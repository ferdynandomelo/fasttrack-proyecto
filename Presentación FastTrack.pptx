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821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95F6B9-5CD8-4F25-950D-5BC5D4542DEC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7BADE405-EDA1-4B7F-822C-9CD3EC3225D9}">
      <dgm:prSet/>
      <dgm:spPr/>
      <dgm:t>
        <a:bodyPr/>
        <a:lstStyle/>
        <a:p>
          <a:r>
            <a:rPr lang="es-CL" b="1"/>
            <a:t>Dolores del Cliente (Problemáticas):</a:t>
          </a:r>
          <a:endParaRPr lang="en-US"/>
        </a:p>
      </dgm:t>
    </dgm:pt>
    <dgm:pt modelId="{7F65B79E-2F1E-44A0-B06C-786661D251AE}" type="parTrans" cxnId="{7B837ED8-A43C-439A-B147-C3F4C3F66502}">
      <dgm:prSet/>
      <dgm:spPr/>
      <dgm:t>
        <a:bodyPr/>
        <a:lstStyle/>
        <a:p>
          <a:endParaRPr lang="en-US"/>
        </a:p>
      </dgm:t>
    </dgm:pt>
    <dgm:pt modelId="{CF4D495A-D0EF-40BD-ADA9-4034C2DA047F}" type="sibTrans" cxnId="{7B837ED8-A43C-439A-B147-C3F4C3F66502}">
      <dgm:prSet/>
      <dgm:spPr/>
      <dgm:t>
        <a:bodyPr/>
        <a:lstStyle/>
        <a:p>
          <a:endParaRPr lang="en-US"/>
        </a:p>
      </dgm:t>
    </dgm:pt>
    <dgm:pt modelId="{AA705B68-8BD0-4285-9F68-C43BF3002622}">
      <dgm:prSet/>
      <dgm:spPr/>
      <dgm:t>
        <a:bodyPr/>
        <a:lstStyle/>
        <a:p>
          <a:r>
            <a:rPr lang="es-CL"/>
            <a:t>Horarios teóricos obsoletos en plataformas tradicionales.</a:t>
          </a:r>
          <a:endParaRPr lang="en-US"/>
        </a:p>
      </dgm:t>
    </dgm:pt>
    <dgm:pt modelId="{D0780FDA-3734-413C-A4F6-16E922F5ECC2}" type="parTrans" cxnId="{9564A27F-E248-48EB-A326-8013235A4252}">
      <dgm:prSet/>
      <dgm:spPr/>
      <dgm:t>
        <a:bodyPr/>
        <a:lstStyle/>
        <a:p>
          <a:endParaRPr lang="en-US"/>
        </a:p>
      </dgm:t>
    </dgm:pt>
    <dgm:pt modelId="{B0A8DE4C-5808-4BB7-97DB-3E71EA011C5A}" type="sibTrans" cxnId="{9564A27F-E248-48EB-A326-8013235A4252}">
      <dgm:prSet/>
      <dgm:spPr/>
      <dgm:t>
        <a:bodyPr/>
        <a:lstStyle/>
        <a:p>
          <a:endParaRPr lang="en-US"/>
        </a:p>
      </dgm:t>
    </dgm:pt>
    <dgm:pt modelId="{7CC93129-4064-41DC-9042-BA7808EEFE6D}">
      <dgm:prSet/>
      <dgm:spPr/>
      <dgm:t>
        <a:bodyPr/>
        <a:lstStyle/>
        <a:p>
          <a:r>
            <a:rPr lang="es-CL"/>
            <a:t>Traslados frustrados a locales que se encuentran cerrados de imprevisto.</a:t>
          </a:r>
          <a:endParaRPr lang="en-US"/>
        </a:p>
      </dgm:t>
    </dgm:pt>
    <dgm:pt modelId="{F54DC0C5-8FBB-407C-9B0B-54102859EBFC}" type="parTrans" cxnId="{86017894-99C4-4B9D-9A2A-6F4F9CA78EBF}">
      <dgm:prSet/>
      <dgm:spPr/>
      <dgm:t>
        <a:bodyPr/>
        <a:lstStyle/>
        <a:p>
          <a:endParaRPr lang="en-US"/>
        </a:p>
      </dgm:t>
    </dgm:pt>
    <dgm:pt modelId="{71507211-71BF-4C5D-9C19-BD2BE4A74A0E}" type="sibTrans" cxnId="{86017894-99C4-4B9D-9A2A-6F4F9CA78EBF}">
      <dgm:prSet/>
      <dgm:spPr/>
      <dgm:t>
        <a:bodyPr/>
        <a:lstStyle/>
        <a:p>
          <a:endParaRPr lang="en-US"/>
        </a:p>
      </dgm:t>
    </dgm:pt>
    <dgm:pt modelId="{F18BB7D7-7336-4620-B55D-2B94E7F815EA}">
      <dgm:prSet/>
      <dgm:spPr/>
      <dgm:t>
        <a:bodyPr/>
        <a:lstStyle/>
        <a:p>
          <a:r>
            <a:rPr lang="es-CL"/>
            <a:t>Cartas y precios desactualizados.</a:t>
          </a:r>
          <a:endParaRPr lang="en-US"/>
        </a:p>
      </dgm:t>
    </dgm:pt>
    <dgm:pt modelId="{2032C893-A83D-40B7-A45A-38E339F0920D}" type="parTrans" cxnId="{8C472006-0C7E-4EA5-A7BE-3311189CED7A}">
      <dgm:prSet/>
      <dgm:spPr/>
      <dgm:t>
        <a:bodyPr/>
        <a:lstStyle/>
        <a:p>
          <a:endParaRPr lang="en-US"/>
        </a:p>
      </dgm:t>
    </dgm:pt>
    <dgm:pt modelId="{9E9D7FFB-13AA-428A-B410-A495700E4299}" type="sibTrans" cxnId="{8C472006-0C7E-4EA5-A7BE-3311189CED7A}">
      <dgm:prSet/>
      <dgm:spPr/>
      <dgm:t>
        <a:bodyPr/>
        <a:lstStyle/>
        <a:p>
          <a:endParaRPr lang="en-US"/>
        </a:p>
      </dgm:t>
    </dgm:pt>
    <dgm:pt modelId="{A048F66A-F3ED-449D-821B-C343A53615E5}">
      <dgm:prSet/>
      <dgm:spPr/>
      <dgm:t>
        <a:bodyPr/>
        <a:lstStyle/>
        <a:p>
          <a:r>
            <a:rPr lang="es-CL"/>
            <a:t>Reseñas y valoraciones sin incentivo real ni control de veracidad.</a:t>
          </a:r>
          <a:endParaRPr lang="en-US"/>
        </a:p>
      </dgm:t>
    </dgm:pt>
    <dgm:pt modelId="{8EF15D0D-4009-44C3-894A-385B431AA77B}" type="parTrans" cxnId="{5AE73CA3-A6E4-4AA3-9AC4-C772F4B6C2E8}">
      <dgm:prSet/>
      <dgm:spPr/>
      <dgm:t>
        <a:bodyPr/>
        <a:lstStyle/>
        <a:p>
          <a:endParaRPr lang="en-US"/>
        </a:p>
      </dgm:t>
    </dgm:pt>
    <dgm:pt modelId="{D61423ED-9104-41BF-8C8B-F2CDB0AF2C76}" type="sibTrans" cxnId="{5AE73CA3-A6E4-4AA3-9AC4-C772F4B6C2E8}">
      <dgm:prSet/>
      <dgm:spPr/>
      <dgm:t>
        <a:bodyPr/>
        <a:lstStyle/>
        <a:p>
          <a:endParaRPr lang="en-US"/>
        </a:p>
      </dgm:t>
    </dgm:pt>
    <dgm:pt modelId="{3D4C0ADF-4427-479F-91DD-B345E6C301C8}">
      <dgm:prSet/>
      <dgm:spPr/>
      <dgm:t>
        <a:bodyPr/>
        <a:lstStyle/>
        <a:p>
          <a:r>
            <a:rPr lang="es-CL" b="1"/>
            <a:t>Impacto de la Problemática:</a:t>
          </a:r>
          <a:endParaRPr lang="en-US"/>
        </a:p>
      </dgm:t>
    </dgm:pt>
    <dgm:pt modelId="{9CCBAA58-AAEB-4167-8C4C-8631838EAB90}" type="parTrans" cxnId="{CFBBE9BB-042C-4D61-8402-1868B207BFC5}">
      <dgm:prSet/>
      <dgm:spPr/>
      <dgm:t>
        <a:bodyPr/>
        <a:lstStyle/>
        <a:p>
          <a:endParaRPr lang="en-US"/>
        </a:p>
      </dgm:t>
    </dgm:pt>
    <dgm:pt modelId="{FE5D1753-3CD0-4C50-A009-0D933E1A5FE4}" type="sibTrans" cxnId="{CFBBE9BB-042C-4D61-8402-1868B207BFC5}">
      <dgm:prSet/>
      <dgm:spPr/>
      <dgm:t>
        <a:bodyPr/>
        <a:lstStyle/>
        <a:p>
          <a:endParaRPr lang="en-US"/>
        </a:p>
      </dgm:t>
    </dgm:pt>
    <dgm:pt modelId="{0186FDED-DB6C-43CC-B25D-CEBDD2EB86B6}">
      <dgm:prSet/>
      <dgm:spPr/>
      <dgm:t>
        <a:bodyPr/>
        <a:lstStyle/>
        <a:p>
          <a:r>
            <a:rPr lang="es-CL"/>
            <a:t>Pérdida de tiempo y recursos para el consumidor.</a:t>
          </a:r>
          <a:endParaRPr lang="en-US"/>
        </a:p>
      </dgm:t>
    </dgm:pt>
    <dgm:pt modelId="{2504CF4C-3FB1-467E-8595-11A3EEC61E13}" type="parTrans" cxnId="{1C24927B-A03C-44E3-B98A-AC66237B3E9F}">
      <dgm:prSet/>
      <dgm:spPr/>
      <dgm:t>
        <a:bodyPr/>
        <a:lstStyle/>
        <a:p>
          <a:endParaRPr lang="en-US"/>
        </a:p>
      </dgm:t>
    </dgm:pt>
    <dgm:pt modelId="{7585FD64-BA56-4B0A-BEF8-A4168932BDD9}" type="sibTrans" cxnId="{1C24927B-A03C-44E3-B98A-AC66237B3E9F}">
      <dgm:prSet/>
      <dgm:spPr/>
      <dgm:t>
        <a:bodyPr/>
        <a:lstStyle/>
        <a:p>
          <a:endParaRPr lang="en-US"/>
        </a:p>
      </dgm:t>
    </dgm:pt>
    <dgm:pt modelId="{2418E72F-8DEB-4AE9-A6BB-6FA3E965359C}">
      <dgm:prSet/>
      <dgm:spPr/>
      <dgm:t>
        <a:bodyPr/>
        <a:lstStyle/>
        <a:p>
          <a:r>
            <a:rPr lang="es-CL"/>
            <a:t>Pérdida de oportunidades de venta y visibilidad para las pymes locales.</a:t>
          </a:r>
          <a:endParaRPr lang="en-US"/>
        </a:p>
      </dgm:t>
    </dgm:pt>
    <dgm:pt modelId="{D5E7B494-7864-481E-B62A-05E9569F99C7}" type="parTrans" cxnId="{2139BE8C-5DD1-411F-8483-7ED0A9977241}">
      <dgm:prSet/>
      <dgm:spPr/>
      <dgm:t>
        <a:bodyPr/>
        <a:lstStyle/>
        <a:p>
          <a:endParaRPr lang="en-US"/>
        </a:p>
      </dgm:t>
    </dgm:pt>
    <dgm:pt modelId="{4FE822D9-708F-4199-BAED-BFE6128A3618}" type="sibTrans" cxnId="{2139BE8C-5DD1-411F-8483-7ED0A9977241}">
      <dgm:prSet/>
      <dgm:spPr/>
      <dgm:t>
        <a:bodyPr/>
        <a:lstStyle/>
        <a:p>
          <a:endParaRPr lang="en-US"/>
        </a:p>
      </dgm:t>
    </dgm:pt>
    <dgm:pt modelId="{A2596664-4A60-4D61-AC33-AA6DC40A4823}">
      <dgm:prSet/>
      <dgm:spPr/>
      <dgm:t>
        <a:bodyPr/>
        <a:lstStyle/>
        <a:p>
          <a:r>
            <a:rPr lang="es-CL"/>
            <a:t>Dependencia forzada de aplicaciones de delivery con comisiones de intermediación de hasta un 30%.</a:t>
          </a:r>
          <a:endParaRPr lang="en-US"/>
        </a:p>
      </dgm:t>
    </dgm:pt>
    <dgm:pt modelId="{B22555FA-E236-46E7-AC30-D61C12BD7962}" type="parTrans" cxnId="{AFCE8B6B-A3DF-4F4F-88BD-F64B849BB3AB}">
      <dgm:prSet/>
      <dgm:spPr/>
      <dgm:t>
        <a:bodyPr/>
        <a:lstStyle/>
        <a:p>
          <a:endParaRPr lang="en-US"/>
        </a:p>
      </dgm:t>
    </dgm:pt>
    <dgm:pt modelId="{A20C5CA0-6073-4B27-A8CF-8846319D6B47}" type="sibTrans" cxnId="{AFCE8B6B-A3DF-4F4F-88BD-F64B849BB3AB}">
      <dgm:prSet/>
      <dgm:spPr/>
      <dgm:t>
        <a:bodyPr/>
        <a:lstStyle/>
        <a:p>
          <a:endParaRPr lang="en-US"/>
        </a:p>
      </dgm:t>
    </dgm:pt>
    <dgm:pt modelId="{08CD02AA-48A2-4AC0-A21F-1A52B874E025}" type="pres">
      <dgm:prSet presAssocID="{D895F6B9-5CD8-4F25-950D-5BC5D4542DEC}" presName="linear" presStyleCnt="0">
        <dgm:presLayoutVars>
          <dgm:dir/>
          <dgm:animLvl val="lvl"/>
          <dgm:resizeHandles val="exact"/>
        </dgm:presLayoutVars>
      </dgm:prSet>
      <dgm:spPr/>
    </dgm:pt>
    <dgm:pt modelId="{ACBAA09B-DE71-4431-AC37-0FB76A1D8EF3}" type="pres">
      <dgm:prSet presAssocID="{7BADE405-EDA1-4B7F-822C-9CD3EC3225D9}" presName="parentLin" presStyleCnt="0"/>
      <dgm:spPr/>
    </dgm:pt>
    <dgm:pt modelId="{A8CB327C-1C03-4F68-B835-2F01816022D1}" type="pres">
      <dgm:prSet presAssocID="{7BADE405-EDA1-4B7F-822C-9CD3EC3225D9}" presName="parentLeftMargin" presStyleLbl="node1" presStyleIdx="0" presStyleCnt="2"/>
      <dgm:spPr/>
    </dgm:pt>
    <dgm:pt modelId="{F18BF7DB-7224-4AFC-8812-B89591F2392A}" type="pres">
      <dgm:prSet presAssocID="{7BADE405-EDA1-4B7F-822C-9CD3EC3225D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DDCEE6D-5966-47DE-913F-F800A15E78DB}" type="pres">
      <dgm:prSet presAssocID="{7BADE405-EDA1-4B7F-822C-9CD3EC3225D9}" presName="negativeSpace" presStyleCnt="0"/>
      <dgm:spPr/>
    </dgm:pt>
    <dgm:pt modelId="{11DB9434-0D21-4B36-9A73-EAD7A4CDF59B}" type="pres">
      <dgm:prSet presAssocID="{7BADE405-EDA1-4B7F-822C-9CD3EC3225D9}" presName="childText" presStyleLbl="conFgAcc1" presStyleIdx="0" presStyleCnt="2">
        <dgm:presLayoutVars>
          <dgm:bulletEnabled val="1"/>
        </dgm:presLayoutVars>
      </dgm:prSet>
      <dgm:spPr/>
    </dgm:pt>
    <dgm:pt modelId="{0FCC0802-CC5C-4DB6-BDC2-279E54905BB0}" type="pres">
      <dgm:prSet presAssocID="{CF4D495A-D0EF-40BD-ADA9-4034C2DA047F}" presName="spaceBetweenRectangles" presStyleCnt="0"/>
      <dgm:spPr/>
    </dgm:pt>
    <dgm:pt modelId="{24918233-680C-4F18-B0B1-A00119E29886}" type="pres">
      <dgm:prSet presAssocID="{3D4C0ADF-4427-479F-91DD-B345E6C301C8}" presName="parentLin" presStyleCnt="0"/>
      <dgm:spPr/>
    </dgm:pt>
    <dgm:pt modelId="{345771C6-594E-4249-B0B5-4A7C1568A83D}" type="pres">
      <dgm:prSet presAssocID="{3D4C0ADF-4427-479F-91DD-B345E6C301C8}" presName="parentLeftMargin" presStyleLbl="node1" presStyleIdx="0" presStyleCnt="2"/>
      <dgm:spPr/>
    </dgm:pt>
    <dgm:pt modelId="{9CA160CD-52D5-48FA-9E70-6352EAD720F3}" type="pres">
      <dgm:prSet presAssocID="{3D4C0ADF-4427-479F-91DD-B345E6C301C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4FD11F8-BF9C-4BDC-8EAD-27FEA79A95D9}" type="pres">
      <dgm:prSet presAssocID="{3D4C0ADF-4427-479F-91DD-B345E6C301C8}" presName="negativeSpace" presStyleCnt="0"/>
      <dgm:spPr/>
    </dgm:pt>
    <dgm:pt modelId="{7EBFE4F5-6ADE-4666-8396-DC32D14B7539}" type="pres">
      <dgm:prSet presAssocID="{3D4C0ADF-4427-479F-91DD-B345E6C301C8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8C472006-0C7E-4EA5-A7BE-3311189CED7A}" srcId="{7BADE405-EDA1-4B7F-822C-9CD3EC3225D9}" destId="{F18BB7D7-7336-4620-B55D-2B94E7F815EA}" srcOrd="2" destOrd="0" parTransId="{2032C893-A83D-40B7-A45A-38E339F0920D}" sibTransId="{9E9D7FFB-13AA-428A-B410-A495700E4299}"/>
    <dgm:cxn modelId="{2FF9271C-73D8-4389-A935-128D20DCCC5D}" type="presOf" srcId="{F18BB7D7-7336-4620-B55D-2B94E7F815EA}" destId="{11DB9434-0D21-4B36-9A73-EAD7A4CDF59B}" srcOrd="0" destOrd="2" presId="urn:microsoft.com/office/officeart/2005/8/layout/list1"/>
    <dgm:cxn modelId="{BCF6DB33-F625-43B5-A24E-2220101CFC31}" type="presOf" srcId="{A2596664-4A60-4D61-AC33-AA6DC40A4823}" destId="{7EBFE4F5-6ADE-4666-8396-DC32D14B7539}" srcOrd="0" destOrd="2" presId="urn:microsoft.com/office/officeart/2005/8/layout/list1"/>
    <dgm:cxn modelId="{59F68736-3C14-40D2-997D-D1106F09E129}" type="presOf" srcId="{7CC93129-4064-41DC-9042-BA7808EEFE6D}" destId="{11DB9434-0D21-4B36-9A73-EAD7A4CDF59B}" srcOrd="0" destOrd="1" presId="urn:microsoft.com/office/officeart/2005/8/layout/list1"/>
    <dgm:cxn modelId="{169FB440-44DE-4ECD-B97C-47D1CB27E795}" type="presOf" srcId="{3D4C0ADF-4427-479F-91DD-B345E6C301C8}" destId="{345771C6-594E-4249-B0B5-4A7C1568A83D}" srcOrd="0" destOrd="0" presId="urn:microsoft.com/office/officeart/2005/8/layout/list1"/>
    <dgm:cxn modelId="{B8A48A5C-3FEC-482D-BD2E-51645E774A20}" type="presOf" srcId="{3D4C0ADF-4427-479F-91DD-B345E6C301C8}" destId="{9CA160CD-52D5-48FA-9E70-6352EAD720F3}" srcOrd="1" destOrd="0" presId="urn:microsoft.com/office/officeart/2005/8/layout/list1"/>
    <dgm:cxn modelId="{D8FB4768-DEAC-4ED5-B3A6-4875AD8E8DB2}" type="presOf" srcId="{AA705B68-8BD0-4285-9F68-C43BF3002622}" destId="{11DB9434-0D21-4B36-9A73-EAD7A4CDF59B}" srcOrd="0" destOrd="0" presId="urn:microsoft.com/office/officeart/2005/8/layout/list1"/>
    <dgm:cxn modelId="{AFCE8B6B-A3DF-4F4F-88BD-F64B849BB3AB}" srcId="{3D4C0ADF-4427-479F-91DD-B345E6C301C8}" destId="{A2596664-4A60-4D61-AC33-AA6DC40A4823}" srcOrd="2" destOrd="0" parTransId="{B22555FA-E236-46E7-AC30-D61C12BD7962}" sibTransId="{A20C5CA0-6073-4B27-A8CF-8846319D6B47}"/>
    <dgm:cxn modelId="{71551851-245C-4177-8510-4C9FF7A8F67C}" type="presOf" srcId="{0186FDED-DB6C-43CC-B25D-CEBDD2EB86B6}" destId="{7EBFE4F5-6ADE-4666-8396-DC32D14B7539}" srcOrd="0" destOrd="0" presId="urn:microsoft.com/office/officeart/2005/8/layout/list1"/>
    <dgm:cxn modelId="{968C6174-D517-40A3-9C1D-8567376860E2}" type="presOf" srcId="{A048F66A-F3ED-449D-821B-C343A53615E5}" destId="{11DB9434-0D21-4B36-9A73-EAD7A4CDF59B}" srcOrd="0" destOrd="3" presId="urn:microsoft.com/office/officeart/2005/8/layout/list1"/>
    <dgm:cxn modelId="{1C24927B-A03C-44E3-B98A-AC66237B3E9F}" srcId="{3D4C0ADF-4427-479F-91DD-B345E6C301C8}" destId="{0186FDED-DB6C-43CC-B25D-CEBDD2EB86B6}" srcOrd="0" destOrd="0" parTransId="{2504CF4C-3FB1-467E-8595-11A3EEC61E13}" sibTransId="{7585FD64-BA56-4B0A-BEF8-A4168932BDD9}"/>
    <dgm:cxn modelId="{9564A27F-E248-48EB-A326-8013235A4252}" srcId="{7BADE405-EDA1-4B7F-822C-9CD3EC3225D9}" destId="{AA705B68-8BD0-4285-9F68-C43BF3002622}" srcOrd="0" destOrd="0" parTransId="{D0780FDA-3734-413C-A4F6-16E922F5ECC2}" sibTransId="{B0A8DE4C-5808-4BB7-97DB-3E71EA011C5A}"/>
    <dgm:cxn modelId="{6B73B18A-7172-431E-85AF-E2F3869B2C34}" type="presOf" srcId="{D895F6B9-5CD8-4F25-950D-5BC5D4542DEC}" destId="{08CD02AA-48A2-4AC0-A21F-1A52B874E025}" srcOrd="0" destOrd="0" presId="urn:microsoft.com/office/officeart/2005/8/layout/list1"/>
    <dgm:cxn modelId="{2139BE8C-5DD1-411F-8483-7ED0A9977241}" srcId="{3D4C0ADF-4427-479F-91DD-B345E6C301C8}" destId="{2418E72F-8DEB-4AE9-A6BB-6FA3E965359C}" srcOrd="1" destOrd="0" parTransId="{D5E7B494-7864-481E-B62A-05E9569F99C7}" sibTransId="{4FE822D9-708F-4199-BAED-BFE6128A3618}"/>
    <dgm:cxn modelId="{E1039C8F-B29B-4154-B6D2-CE772EEDFEEF}" type="presOf" srcId="{2418E72F-8DEB-4AE9-A6BB-6FA3E965359C}" destId="{7EBFE4F5-6ADE-4666-8396-DC32D14B7539}" srcOrd="0" destOrd="1" presId="urn:microsoft.com/office/officeart/2005/8/layout/list1"/>
    <dgm:cxn modelId="{86017894-99C4-4B9D-9A2A-6F4F9CA78EBF}" srcId="{7BADE405-EDA1-4B7F-822C-9CD3EC3225D9}" destId="{7CC93129-4064-41DC-9042-BA7808EEFE6D}" srcOrd="1" destOrd="0" parTransId="{F54DC0C5-8FBB-407C-9B0B-54102859EBFC}" sibTransId="{71507211-71BF-4C5D-9C19-BD2BE4A74A0E}"/>
    <dgm:cxn modelId="{5AE73CA3-A6E4-4AA3-9AC4-C772F4B6C2E8}" srcId="{7BADE405-EDA1-4B7F-822C-9CD3EC3225D9}" destId="{A048F66A-F3ED-449D-821B-C343A53615E5}" srcOrd="3" destOrd="0" parTransId="{8EF15D0D-4009-44C3-894A-385B431AA77B}" sibTransId="{D61423ED-9104-41BF-8C8B-F2CDB0AF2C76}"/>
    <dgm:cxn modelId="{BF9D1AB2-65FB-46A9-9756-4598DA729D48}" type="presOf" srcId="{7BADE405-EDA1-4B7F-822C-9CD3EC3225D9}" destId="{F18BF7DB-7224-4AFC-8812-B89591F2392A}" srcOrd="1" destOrd="0" presId="urn:microsoft.com/office/officeart/2005/8/layout/list1"/>
    <dgm:cxn modelId="{CFBBE9BB-042C-4D61-8402-1868B207BFC5}" srcId="{D895F6B9-5CD8-4F25-950D-5BC5D4542DEC}" destId="{3D4C0ADF-4427-479F-91DD-B345E6C301C8}" srcOrd="1" destOrd="0" parTransId="{9CCBAA58-AAEB-4167-8C4C-8631838EAB90}" sibTransId="{FE5D1753-3CD0-4C50-A009-0D933E1A5FE4}"/>
    <dgm:cxn modelId="{695F79D1-3366-440A-8AB1-1326ABE29EFB}" type="presOf" srcId="{7BADE405-EDA1-4B7F-822C-9CD3EC3225D9}" destId="{A8CB327C-1C03-4F68-B835-2F01816022D1}" srcOrd="0" destOrd="0" presId="urn:microsoft.com/office/officeart/2005/8/layout/list1"/>
    <dgm:cxn modelId="{7B837ED8-A43C-439A-B147-C3F4C3F66502}" srcId="{D895F6B9-5CD8-4F25-950D-5BC5D4542DEC}" destId="{7BADE405-EDA1-4B7F-822C-9CD3EC3225D9}" srcOrd="0" destOrd="0" parTransId="{7F65B79E-2F1E-44A0-B06C-786661D251AE}" sibTransId="{CF4D495A-D0EF-40BD-ADA9-4034C2DA047F}"/>
    <dgm:cxn modelId="{2E65546F-BEC4-4FC8-8F26-9AD39B9A858A}" type="presParOf" srcId="{08CD02AA-48A2-4AC0-A21F-1A52B874E025}" destId="{ACBAA09B-DE71-4431-AC37-0FB76A1D8EF3}" srcOrd="0" destOrd="0" presId="urn:microsoft.com/office/officeart/2005/8/layout/list1"/>
    <dgm:cxn modelId="{AAD034ED-8FDF-425A-92C6-DFFAC7FB97E4}" type="presParOf" srcId="{ACBAA09B-DE71-4431-AC37-0FB76A1D8EF3}" destId="{A8CB327C-1C03-4F68-B835-2F01816022D1}" srcOrd="0" destOrd="0" presId="urn:microsoft.com/office/officeart/2005/8/layout/list1"/>
    <dgm:cxn modelId="{AC133D52-121E-47DD-9663-FEBB0D8A071F}" type="presParOf" srcId="{ACBAA09B-DE71-4431-AC37-0FB76A1D8EF3}" destId="{F18BF7DB-7224-4AFC-8812-B89591F2392A}" srcOrd="1" destOrd="0" presId="urn:microsoft.com/office/officeart/2005/8/layout/list1"/>
    <dgm:cxn modelId="{D30C0C7D-328E-4797-9BC5-AF9C4A1B7BAF}" type="presParOf" srcId="{08CD02AA-48A2-4AC0-A21F-1A52B874E025}" destId="{1DDCEE6D-5966-47DE-913F-F800A15E78DB}" srcOrd="1" destOrd="0" presId="urn:microsoft.com/office/officeart/2005/8/layout/list1"/>
    <dgm:cxn modelId="{A305DED6-A7B6-4A67-AFBE-6F04E04A69FE}" type="presParOf" srcId="{08CD02AA-48A2-4AC0-A21F-1A52B874E025}" destId="{11DB9434-0D21-4B36-9A73-EAD7A4CDF59B}" srcOrd="2" destOrd="0" presId="urn:microsoft.com/office/officeart/2005/8/layout/list1"/>
    <dgm:cxn modelId="{1880E683-CE48-4512-9A33-45B4696AB003}" type="presParOf" srcId="{08CD02AA-48A2-4AC0-A21F-1A52B874E025}" destId="{0FCC0802-CC5C-4DB6-BDC2-279E54905BB0}" srcOrd="3" destOrd="0" presId="urn:microsoft.com/office/officeart/2005/8/layout/list1"/>
    <dgm:cxn modelId="{019CC914-8A6B-4221-A745-EDDE90F5C588}" type="presParOf" srcId="{08CD02AA-48A2-4AC0-A21F-1A52B874E025}" destId="{24918233-680C-4F18-B0B1-A00119E29886}" srcOrd="4" destOrd="0" presId="urn:microsoft.com/office/officeart/2005/8/layout/list1"/>
    <dgm:cxn modelId="{2BE0E132-CADF-446F-B17D-0AEBA652EFE2}" type="presParOf" srcId="{24918233-680C-4F18-B0B1-A00119E29886}" destId="{345771C6-594E-4249-B0B5-4A7C1568A83D}" srcOrd="0" destOrd="0" presId="urn:microsoft.com/office/officeart/2005/8/layout/list1"/>
    <dgm:cxn modelId="{BE7DDDD3-4105-413C-B08A-A64899227CC9}" type="presParOf" srcId="{24918233-680C-4F18-B0B1-A00119E29886}" destId="{9CA160CD-52D5-48FA-9E70-6352EAD720F3}" srcOrd="1" destOrd="0" presId="urn:microsoft.com/office/officeart/2005/8/layout/list1"/>
    <dgm:cxn modelId="{B5E98C1F-E7FB-4290-9400-9F9C8D662136}" type="presParOf" srcId="{08CD02AA-48A2-4AC0-A21F-1A52B874E025}" destId="{84FD11F8-BF9C-4BDC-8EAD-27FEA79A95D9}" srcOrd="5" destOrd="0" presId="urn:microsoft.com/office/officeart/2005/8/layout/list1"/>
    <dgm:cxn modelId="{94AB6BEA-762C-4D90-800C-C2C45CB172E1}" type="presParOf" srcId="{08CD02AA-48A2-4AC0-A21F-1A52B874E025}" destId="{7EBFE4F5-6ADE-4666-8396-DC32D14B7539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C03FB2-7DCE-458B-9FB0-B1C4FD8FBE7A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DBE2733-44CC-4DC4-B98C-F48C1161F6C5}">
      <dgm:prSet/>
      <dgm:spPr/>
      <dgm:t>
        <a:bodyPr/>
        <a:lstStyle/>
        <a:p>
          <a:r>
            <a:rPr lang="es-CL" b="1"/>
            <a:t>1. Actores Principales (Usuarios Directos):</a:t>
          </a:r>
          <a:endParaRPr lang="en-US"/>
        </a:p>
      </dgm:t>
    </dgm:pt>
    <dgm:pt modelId="{361A69D2-C80E-4B10-94AA-7F28526E5E99}" type="parTrans" cxnId="{4FB4D7CA-8267-45C5-AD3C-569386DC3B0E}">
      <dgm:prSet/>
      <dgm:spPr/>
      <dgm:t>
        <a:bodyPr/>
        <a:lstStyle/>
        <a:p>
          <a:endParaRPr lang="en-US"/>
        </a:p>
      </dgm:t>
    </dgm:pt>
    <dgm:pt modelId="{8BF0BF99-65E3-4E35-B4C9-AA8BE6CB744C}" type="sibTrans" cxnId="{4FB4D7CA-8267-45C5-AD3C-569386DC3B0E}">
      <dgm:prSet/>
      <dgm:spPr/>
      <dgm:t>
        <a:bodyPr/>
        <a:lstStyle/>
        <a:p>
          <a:endParaRPr lang="en-US"/>
        </a:p>
      </dgm:t>
    </dgm:pt>
    <dgm:pt modelId="{6105FB3E-003F-4301-B5C5-58FBC2AECF8A}">
      <dgm:prSet/>
      <dgm:spPr/>
      <dgm:t>
        <a:bodyPr/>
        <a:lstStyle/>
        <a:p>
          <a:r>
            <a:rPr lang="es-CL" b="1"/>
            <a:t>Cliente Comensal:</a:t>
          </a:r>
          <a:r>
            <a:rPr lang="es-CL"/>
            <a:t> Quien busca locales, consulta cartas, verifica el estado en vivo, califica y canjea cupones.</a:t>
          </a:r>
          <a:endParaRPr lang="en-US"/>
        </a:p>
      </dgm:t>
    </dgm:pt>
    <dgm:pt modelId="{B9355986-7821-4BB2-B23E-81A28316063B}" type="parTrans" cxnId="{4FCCB653-EAF3-43C8-9182-5D206F18A940}">
      <dgm:prSet/>
      <dgm:spPr/>
      <dgm:t>
        <a:bodyPr/>
        <a:lstStyle/>
        <a:p>
          <a:endParaRPr lang="en-US"/>
        </a:p>
      </dgm:t>
    </dgm:pt>
    <dgm:pt modelId="{9F245A11-2295-453C-A8B2-B06B30CB4F04}" type="sibTrans" cxnId="{4FCCB653-EAF3-43C8-9182-5D206F18A940}">
      <dgm:prSet/>
      <dgm:spPr/>
      <dgm:t>
        <a:bodyPr/>
        <a:lstStyle/>
        <a:p>
          <a:endParaRPr lang="en-US"/>
        </a:p>
      </dgm:t>
    </dgm:pt>
    <dgm:pt modelId="{7A94649B-DA97-4ED5-9155-D5FA94D2AAF4}">
      <dgm:prSet/>
      <dgm:spPr/>
      <dgm:t>
        <a:bodyPr/>
        <a:lstStyle/>
        <a:p>
          <a:r>
            <a:rPr lang="es-CL" b="1"/>
            <a:t>Locatario/Administrador:</a:t>
          </a:r>
          <a:r>
            <a:rPr lang="es-CL"/>
            <a:t> Quien gestiona el local, actualiza la carta digital, controla el interruptor Live Status y valida los cupones.</a:t>
          </a:r>
          <a:endParaRPr lang="en-US"/>
        </a:p>
      </dgm:t>
    </dgm:pt>
    <dgm:pt modelId="{F93CDBCD-8CB4-469E-9FEA-3C6A7F9D2E9A}" type="parTrans" cxnId="{727455B4-78A6-4DDE-A622-25024377C2DF}">
      <dgm:prSet/>
      <dgm:spPr/>
      <dgm:t>
        <a:bodyPr/>
        <a:lstStyle/>
        <a:p>
          <a:endParaRPr lang="en-US"/>
        </a:p>
      </dgm:t>
    </dgm:pt>
    <dgm:pt modelId="{F015A445-3547-401B-9CAB-8A2D5EFC097B}" type="sibTrans" cxnId="{727455B4-78A6-4DDE-A622-25024377C2DF}">
      <dgm:prSet/>
      <dgm:spPr/>
      <dgm:t>
        <a:bodyPr/>
        <a:lstStyle/>
        <a:p>
          <a:endParaRPr lang="en-US"/>
        </a:p>
      </dgm:t>
    </dgm:pt>
    <dgm:pt modelId="{1AC8D10F-A026-4096-B2C7-8BB01C84104D}">
      <dgm:prSet/>
      <dgm:spPr/>
      <dgm:t>
        <a:bodyPr/>
        <a:lstStyle/>
        <a:p>
          <a:r>
            <a:rPr lang="es-CL" b="1"/>
            <a:t>2. Actores Internos (Equipo de Desarrollo):</a:t>
          </a:r>
          <a:endParaRPr lang="en-US"/>
        </a:p>
      </dgm:t>
    </dgm:pt>
    <dgm:pt modelId="{E31B1EE6-352A-4869-965D-A8D4D67A58CE}" type="parTrans" cxnId="{51449253-B9F2-4C60-8F5D-DDDF6E6BB061}">
      <dgm:prSet/>
      <dgm:spPr/>
      <dgm:t>
        <a:bodyPr/>
        <a:lstStyle/>
        <a:p>
          <a:endParaRPr lang="en-US"/>
        </a:p>
      </dgm:t>
    </dgm:pt>
    <dgm:pt modelId="{071DF6B0-1F09-4FF8-986F-52540F80B634}" type="sibTrans" cxnId="{51449253-B9F2-4C60-8F5D-DDDF6E6BB061}">
      <dgm:prSet/>
      <dgm:spPr/>
      <dgm:t>
        <a:bodyPr/>
        <a:lstStyle/>
        <a:p>
          <a:endParaRPr lang="en-US"/>
        </a:p>
      </dgm:t>
    </dgm:pt>
    <dgm:pt modelId="{1CFD5B45-1787-4712-A444-3947F70D79EB}">
      <dgm:prSet/>
      <dgm:spPr/>
      <dgm:t>
        <a:bodyPr/>
        <a:lstStyle/>
        <a:p>
          <a:r>
            <a:rPr lang="es-CL" b="1"/>
            <a:t>Ferdynando Melo:</a:t>
          </a:r>
          <a:r>
            <a:rPr lang="es-CL"/>
            <a:t> Asumiendo los roles de Product Owner, Scrum Master y Desarrollador Fullstack.</a:t>
          </a:r>
          <a:endParaRPr lang="en-US"/>
        </a:p>
      </dgm:t>
    </dgm:pt>
    <dgm:pt modelId="{5C393973-9FAE-4888-B640-1F97034C02C9}" type="parTrans" cxnId="{2C14C0EC-20F1-4D18-967E-1E50FD57BFEF}">
      <dgm:prSet/>
      <dgm:spPr/>
      <dgm:t>
        <a:bodyPr/>
        <a:lstStyle/>
        <a:p>
          <a:endParaRPr lang="en-US"/>
        </a:p>
      </dgm:t>
    </dgm:pt>
    <dgm:pt modelId="{08C95B8B-C53D-4F7E-80B0-11D2506D782D}" type="sibTrans" cxnId="{2C14C0EC-20F1-4D18-967E-1E50FD57BFEF}">
      <dgm:prSet/>
      <dgm:spPr/>
      <dgm:t>
        <a:bodyPr/>
        <a:lstStyle/>
        <a:p>
          <a:endParaRPr lang="en-US"/>
        </a:p>
      </dgm:t>
    </dgm:pt>
    <dgm:pt modelId="{24018D90-5243-48D9-989E-645F3C686F85}">
      <dgm:prSet/>
      <dgm:spPr/>
      <dgm:t>
        <a:bodyPr/>
        <a:lstStyle/>
        <a:p>
          <a:r>
            <a:rPr lang="es-CL" b="1"/>
            <a:t>3. Actores Indirectos e Involucrados:</a:t>
          </a:r>
          <a:endParaRPr lang="en-US"/>
        </a:p>
      </dgm:t>
    </dgm:pt>
    <dgm:pt modelId="{B9A9EAB4-AEAC-47A0-BB61-DE2FFC041E3D}" type="parTrans" cxnId="{B0EFB2B4-9F9E-4F0E-9733-F08AC22B3255}">
      <dgm:prSet/>
      <dgm:spPr/>
      <dgm:t>
        <a:bodyPr/>
        <a:lstStyle/>
        <a:p>
          <a:endParaRPr lang="en-US"/>
        </a:p>
      </dgm:t>
    </dgm:pt>
    <dgm:pt modelId="{56DD9014-A468-4999-935E-FE918101AFC8}" type="sibTrans" cxnId="{B0EFB2B4-9F9E-4F0E-9733-F08AC22B3255}">
      <dgm:prSet/>
      <dgm:spPr/>
      <dgm:t>
        <a:bodyPr/>
        <a:lstStyle/>
        <a:p>
          <a:endParaRPr lang="en-US"/>
        </a:p>
      </dgm:t>
    </dgm:pt>
    <dgm:pt modelId="{1DBB5B36-DE89-4878-9508-9007498C6231}">
      <dgm:prSet/>
      <dgm:spPr/>
      <dgm:t>
        <a:bodyPr/>
        <a:lstStyle/>
        <a:p>
          <a:r>
            <a:rPr lang="es-CL" b="1"/>
            <a:t>Docente Guía y Comisión Evaluadora:</a:t>
          </a:r>
          <a:r>
            <a:rPr lang="es-CL"/>
            <a:t> Supervisión, retroalimentación y evaluación de hitos.</a:t>
          </a:r>
          <a:endParaRPr lang="en-US"/>
        </a:p>
      </dgm:t>
    </dgm:pt>
    <dgm:pt modelId="{EE461BFB-2F8F-47F8-8174-E4248D1A7A62}" type="parTrans" cxnId="{EF9C7F18-EF43-4834-8F28-EE2845A69D46}">
      <dgm:prSet/>
      <dgm:spPr/>
      <dgm:t>
        <a:bodyPr/>
        <a:lstStyle/>
        <a:p>
          <a:endParaRPr lang="en-US"/>
        </a:p>
      </dgm:t>
    </dgm:pt>
    <dgm:pt modelId="{0E8249E3-7CA5-4562-BB64-1C67B2A95CCA}" type="sibTrans" cxnId="{EF9C7F18-EF43-4834-8F28-EE2845A69D46}">
      <dgm:prSet/>
      <dgm:spPr/>
      <dgm:t>
        <a:bodyPr/>
        <a:lstStyle/>
        <a:p>
          <a:endParaRPr lang="en-US"/>
        </a:p>
      </dgm:t>
    </dgm:pt>
    <dgm:pt modelId="{5C99895D-82A3-4702-BCEF-C8050F8050A8}">
      <dgm:prSet/>
      <dgm:spPr/>
      <dgm:t>
        <a:bodyPr/>
        <a:lstStyle/>
        <a:p>
          <a:r>
            <a:rPr lang="es-CL" b="1"/>
            <a:t>Proveedores de APIs (Leaflet / OpenStreetMap):</a:t>
          </a:r>
          <a:r>
            <a:rPr lang="es-CL"/>
            <a:t> Servicios para el mapa interactivo.</a:t>
          </a:r>
          <a:endParaRPr lang="en-US"/>
        </a:p>
      </dgm:t>
    </dgm:pt>
    <dgm:pt modelId="{F4FDCA67-139B-4FF4-9887-91272AD1C99B}" type="parTrans" cxnId="{AEADF628-842B-4E59-B779-4C923082AE26}">
      <dgm:prSet/>
      <dgm:spPr/>
      <dgm:t>
        <a:bodyPr/>
        <a:lstStyle/>
        <a:p>
          <a:endParaRPr lang="en-US"/>
        </a:p>
      </dgm:t>
    </dgm:pt>
    <dgm:pt modelId="{272F3701-888D-45E9-84B8-DBE66A8E6A77}" type="sibTrans" cxnId="{AEADF628-842B-4E59-B779-4C923082AE26}">
      <dgm:prSet/>
      <dgm:spPr/>
      <dgm:t>
        <a:bodyPr/>
        <a:lstStyle/>
        <a:p>
          <a:endParaRPr lang="en-US"/>
        </a:p>
      </dgm:t>
    </dgm:pt>
    <dgm:pt modelId="{F5805E3C-95E1-4431-A613-087032C8E1F3}" type="pres">
      <dgm:prSet presAssocID="{53C03FB2-7DCE-458B-9FB0-B1C4FD8FBE7A}" presName="Name0" presStyleCnt="0">
        <dgm:presLayoutVars>
          <dgm:dir/>
          <dgm:animLvl val="lvl"/>
          <dgm:resizeHandles val="exact"/>
        </dgm:presLayoutVars>
      </dgm:prSet>
      <dgm:spPr/>
    </dgm:pt>
    <dgm:pt modelId="{4FBD26C1-FF3D-48ED-B936-ADB13B374918}" type="pres">
      <dgm:prSet presAssocID="{2DBE2733-44CC-4DC4-B98C-F48C1161F6C5}" presName="linNode" presStyleCnt="0"/>
      <dgm:spPr/>
    </dgm:pt>
    <dgm:pt modelId="{083836B8-90EB-4409-8168-12218D570804}" type="pres">
      <dgm:prSet presAssocID="{2DBE2733-44CC-4DC4-B98C-F48C1161F6C5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0EBCA2CC-B23B-41F0-B05D-1FF87D45D599}" type="pres">
      <dgm:prSet presAssocID="{2DBE2733-44CC-4DC4-B98C-F48C1161F6C5}" presName="descendantText" presStyleLbl="alignAccFollowNode1" presStyleIdx="0" presStyleCnt="3">
        <dgm:presLayoutVars>
          <dgm:bulletEnabled val="1"/>
        </dgm:presLayoutVars>
      </dgm:prSet>
      <dgm:spPr/>
    </dgm:pt>
    <dgm:pt modelId="{04F7C6E7-3BA7-4FCC-8538-0354F65875C4}" type="pres">
      <dgm:prSet presAssocID="{8BF0BF99-65E3-4E35-B4C9-AA8BE6CB744C}" presName="sp" presStyleCnt="0"/>
      <dgm:spPr/>
    </dgm:pt>
    <dgm:pt modelId="{9CE0EEAE-404B-4731-B618-B7CABFAD65E0}" type="pres">
      <dgm:prSet presAssocID="{1AC8D10F-A026-4096-B2C7-8BB01C84104D}" presName="linNode" presStyleCnt="0"/>
      <dgm:spPr/>
    </dgm:pt>
    <dgm:pt modelId="{167E33B9-4EDE-4DFD-8B6C-B4F06557225F}" type="pres">
      <dgm:prSet presAssocID="{1AC8D10F-A026-4096-B2C7-8BB01C84104D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2D6EAD26-CDEE-4BFA-B2BB-2041B73A5077}" type="pres">
      <dgm:prSet presAssocID="{1AC8D10F-A026-4096-B2C7-8BB01C84104D}" presName="descendantText" presStyleLbl="alignAccFollowNode1" presStyleIdx="1" presStyleCnt="3">
        <dgm:presLayoutVars>
          <dgm:bulletEnabled val="1"/>
        </dgm:presLayoutVars>
      </dgm:prSet>
      <dgm:spPr/>
    </dgm:pt>
    <dgm:pt modelId="{09CCC71D-0804-465F-A511-CC1A992F0830}" type="pres">
      <dgm:prSet presAssocID="{071DF6B0-1F09-4FF8-986F-52540F80B634}" presName="sp" presStyleCnt="0"/>
      <dgm:spPr/>
    </dgm:pt>
    <dgm:pt modelId="{30DE1C67-1E30-4929-A2E6-178B297557D5}" type="pres">
      <dgm:prSet presAssocID="{24018D90-5243-48D9-989E-645F3C686F85}" presName="linNode" presStyleCnt="0"/>
      <dgm:spPr/>
    </dgm:pt>
    <dgm:pt modelId="{1DC9E70A-09B6-40B5-A15C-33EEF24EB2B5}" type="pres">
      <dgm:prSet presAssocID="{24018D90-5243-48D9-989E-645F3C686F85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3C794A54-8834-4F12-8F5B-1D070F033077}" type="pres">
      <dgm:prSet presAssocID="{24018D90-5243-48D9-989E-645F3C686F85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EF9C7F18-EF43-4834-8F28-EE2845A69D46}" srcId="{24018D90-5243-48D9-989E-645F3C686F85}" destId="{1DBB5B36-DE89-4878-9508-9007498C6231}" srcOrd="0" destOrd="0" parTransId="{EE461BFB-2F8F-47F8-8174-E4248D1A7A62}" sibTransId="{0E8249E3-7CA5-4562-BB64-1C67B2A95CCA}"/>
    <dgm:cxn modelId="{8FED2421-BBF5-4EEA-AB04-3981B26B01FE}" type="presOf" srcId="{24018D90-5243-48D9-989E-645F3C686F85}" destId="{1DC9E70A-09B6-40B5-A15C-33EEF24EB2B5}" srcOrd="0" destOrd="0" presId="urn:microsoft.com/office/officeart/2005/8/layout/vList5"/>
    <dgm:cxn modelId="{AEADF628-842B-4E59-B779-4C923082AE26}" srcId="{24018D90-5243-48D9-989E-645F3C686F85}" destId="{5C99895D-82A3-4702-BCEF-C8050F8050A8}" srcOrd="1" destOrd="0" parTransId="{F4FDCA67-139B-4FF4-9887-91272AD1C99B}" sibTransId="{272F3701-888D-45E9-84B8-DBE66A8E6A77}"/>
    <dgm:cxn modelId="{3075BB3B-0242-4208-83CA-6C9A60110FFF}" type="presOf" srcId="{2DBE2733-44CC-4DC4-B98C-F48C1161F6C5}" destId="{083836B8-90EB-4409-8168-12218D570804}" srcOrd="0" destOrd="0" presId="urn:microsoft.com/office/officeart/2005/8/layout/vList5"/>
    <dgm:cxn modelId="{4B6B2C3D-50FA-45F5-B938-B26EBA081B60}" type="presOf" srcId="{1CFD5B45-1787-4712-A444-3947F70D79EB}" destId="{2D6EAD26-CDEE-4BFA-B2BB-2041B73A5077}" srcOrd="0" destOrd="0" presId="urn:microsoft.com/office/officeart/2005/8/layout/vList5"/>
    <dgm:cxn modelId="{443ADF4D-423D-4418-BFAC-F9CC939409AE}" type="presOf" srcId="{1DBB5B36-DE89-4878-9508-9007498C6231}" destId="{3C794A54-8834-4F12-8F5B-1D070F033077}" srcOrd="0" destOrd="0" presId="urn:microsoft.com/office/officeart/2005/8/layout/vList5"/>
    <dgm:cxn modelId="{F35C5A6E-D9D8-48AA-89A1-C6A3EBD2A49B}" type="presOf" srcId="{1AC8D10F-A026-4096-B2C7-8BB01C84104D}" destId="{167E33B9-4EDE-4DFD-8B6C-B4F06557225F}" srcOrd="0" destOrd="0" presId="urn:microsoft.com/office/officeart/2005/8/layout/vList5"/>
    <dgm:cxn modelId="{51449253-B9F2-4C60-8F5D-DDDF6E6BB061}" srcId="{53C03FB2-7DCE-458B-9FB0-B1C4FD8FBE7A}" destId="{1AC8D10F-A026-4096-B2C7-8BB01C84104D}" srcOrd="1" destOrd="0" parTransId="{E31B1EE6-352A-4869-965D-A8D4D67A58CE}" sibTransId="{071DF6B0-1F09-4FF8-986F-52540F80B634}"/>
    <dgm:cxn modelId="{4FCCB653-EAF3-43C8-9182-5D206F18A940}" srcId="{2DBE2733-44CC-4DC4-B98C-F48C1161F6C5}" destId="{6105FB3E-003F-4301-B5C5-58FBC2AECF8A}" srcOrd="0" destOrd="0" parTransId="{B9355986-7821-4BB2-B23E-81A28316063B}" sibTransId="{9F245A11-2295-453C-A8B2-B06B30CB4F04}"/>
    <dgm:cxn modelId="{29BB6675-6449-4E47-8918-49DA6FB68347}" type="presOf" srcId="{7A94649B-DA97-4ED5-9155-D5FA94D2AAF4}" destId="{0EBCA2CC-B23B-41F0-B05D-1FF87D45D599}" srcOrd="0" destOrd="1" presId="urn:microsoft.com/office/officeart/2005/8/layout/vList5"/>
    <dgm:cxn modelId="{A5754858-6D5F-44C6-A329-13387FE10290}" type="presOf" srcId="{5C99895D-82A3-4702-BCEF-C8050F8050A8}" destId="{3C794A54-8834-4F12-8F5B-1D070F033077}" srcOrd="0" destOrd="1" presId="urn:microsoft.com/office/officeart/2005/8/layout/vList5"/>
    <dgm:cxn modelId="{727455B4-78A6-4DDE-A622-25024377C2DF}" srcId="{2DBE2733-44CC-4DC4-B98C-F48C1161F6C5}" destId="{7A94649B-DA97-4ED5-9155-D5FA94D2AAF4}" srcOrd="1" destOrd="0" parTransId="{F93CDBCD-8CB4-469E-9FEA-3C6A7F9D2E9A}" sibTransId="{F015A445-3547-401B-9CAB-8A2D5EFC097B}"/>
    <dgm:cxn modelId="{B0EFB2B4-9F9E-4F0E-9733-F08AC22B3255}" srcId="{53C03FB2-7DCE-458B-9FB0-B1C4FD8FBE7A}" destId="{24018D90-5243-48D9-989E-645F3C686F85}" srcOrd="2" destOrd="0" parTransId="{B9A9EAB4-AEAC-47A0-BB61-DE2FFC041E3D}" sibTransId="{56DD9014-A468-4999-935E-FE918101AFC8}"/>
    <dgm:cxn modelId="{4FB4D7CA-8267-45C5-AD3C-569386DC3B0E}" srcId="{53C03FB2-7DCE-458B-9FB0-B1C4FD8FBE7A}" destId="{2DBE2733-44CC-4DC4-B98C-F48C1161F6C5}" srcOrd="0" destOrd="0" parTransId="{361A69D2-C80E-4B10-94AA-7F28526E5E99}" sibTransId="{8BF0BF99-65E3-4E35-B4C9-AA8BE6CB744C}"/>
    <dgm:cxn modelId="{650080D0-B214-441D-AB12-76DC07E9ACEF}" type="presOf" srcId="{53C03FB2-7DCE-458B-9FB0-B1C4FD8FBE7A}" destId="{F5805E3C-95E1-4431-A613-087032C8E1F3}" srcOrd="0" destOrd="0" presId="urn:microsoft.com/office/officeart/2005/8/layout/vList5"/>
    <dgm:cxn modelId="{8995A2E7-2B57-49FA-9325-D12DE3493C6A}" type="presOf" srcId="{6105FB3E-003F-4301-B5C5-58FBC2AECF8A}" destId="{0EBCA2CC-B23B-41F0-B05D-1FF87D45D599}" srcOrd="0" destOrd="0" presId="urn:microsoft.com/office/officeart/2005/8/layout/vList5"/>
    <dgm:cxn modelId="{2C14C0EC-20F1-4D18-967E-1E50FD57BFEF}" srcId="{1AC8D10F-A026-4096-B2C7-8BB01C84104D}" destId="{1CFD5B45-1787-4712-A444-3947F70D79EB}" srcOrd="0" destOrd="0" parTransId="{5C393973-9FAE-4888-B640-1F97034C02C9}" sibTransId="{08C95B8B-C53D-4F7E-80B0-11D2506D782D}"/>
    <dgm:cxn modelId="{A8D4F39C-A1FE-4517-B07B-44EF6B4067F2}" type="presParOf" srcId="{F5805E3C-95E1-4431-A613-087032C8E1F3}" destId="{4FBD26C1-FF3D-48ED-B936-ADB13B374918}" srcOrd="0" destOrd="0" presId="urn:microsoft.com/office/officeart/2005/8/layout/vList5"/>
    <dgm:cxn modelId="{26452CF9-D1B7-4B62-8695-BFF51D92CA6E}" type="presParOf" srcId="{4FBD26C1-FF3D-48ED-B936-ADB13B374918}" destId="{083836B8-90EB-4409-8168-12218D570804}" srcOrd="0" destOrd="0" presId="urn:microsoft.com/office/officeart/2005/8/layout/vList5"/>
    <dgm:cxn modelId="{1D0BD11A-483C-4D0F-8531-54A5699DD068}" type="presParOf" srcId="{4FBD26C1-FF3D-48ED-B936-ADB13B374918}" destId="{0EBCA2CC-B23B-41F0-B05D-1FF87D45D599}" srcOrd="1" destOrd="0" presId="urn:microsoft.com/office/officeart/2005/8/layout/vList5"/>
    <dgm:cxn modelId="{A19F2BC5-5CA6-417E-8102-5201CA8A93C9}" type="presParOf" srcId="{F5805E3C-95E1-4431-A613-087032C8E1F3}" destId="{04F7C6E7-3BA7-4FCC-8538-0354F65875C4}" srcOrd="1" destOrd="0" presId="urn:microsoft.com/office/officeart/2005/8/layout/vList5"/>
    <dgm:cxn modelId="{A1E70699-3ADF-43AF-8727-A69E1E381390}" type="presParOf" srcId="{F5805E3C-95E1-4431-A613-087032C8E1F3}" destId="{9CE0EEAE-404B-4731-B618-B7CABFAD65E0}" srcOrd="2" destOrd="0" presId="urn:microsoft.com/office/officeart/2005/8/layout/vList5"/>
    <dgm:cxn modelId="{AD136985-A707-4CF4-B84B-DE0F08C73016}" type="presParOf" srcId="{9CE0EEAE-404B-4731-B618-B7CABFAD65E0}" destId="{167E33B9-4EDE-4DFD-8B6C-B4F06557225F}" srcOrd="0" destOrd="0" presId="urn:microsoft.com/office/officeart/2005/8/layout/vList5"/>
    <dgm:cxn modelId="{58A4A6B6-BE11-4398-BE14-208C933A3C70}" type="presParOf" srcId="{9CE0EEAE-404B-4731-B618-B7CABFAD65E0}" destId="{2D6EAD26-CDEE-4BFA-B2BB-2041B73A5077}" srcOrd="1" destOrd="0" presId="urn:microsoft.com/office/officeart/2005/8/layout/vList5"/>
    <dgm:cxn modelId="{84A46421-FF62-40D5-80EC-BDF7FF09B2C2}" type="presParOf" srcId="{F5805E3C-95E1-4431-A613-087032C8E1F3}" destId="{09CCC71D-0804-465F-A511-CC1A992F0830}" srcOrd="3" destOrd="0" presId="urn:microsoft.com/office/officeart/2005/8/layout/vList5"/>
    <dgm:cxn modelId="{7B4F5D26-5297-4FB6-9699-62F3155DA321}" type="presParOf" srcId="{F5805E3C-95E1-4431-A613-087032C8E1F3}" destId="{30DE1C67-1E30-4929-A2E6-178B297557D5}" srcOrd="4" destOrd="0" presId="urn:microsoft.com/office/officeart/2005/8/layout/vList5"/>
    <dgm:cxn modelId="{5783A8B4-6F43-406D-BA48-43FDB5B7A3D7}" type="presParOf" srcId="{30DE1C67-1E30-4929-A2E6-178B297557D5}" destId="{1DC9E70A-09B6-40B5-A15C-33EEF24EB2B5}" srcOrd="0" destOrd="0" presId="urn:microsoft.com/office/officeart/2005/8/layout/vList5"/>
    <dgm:cxn modelId="{50686EC5-245D-4C6D-AD50-DAC71AEB10F5}" type="presParOf" srcId="{30DE1C67-1E30-4929-A2E6-178B297557D5}" destId="{3C794A54-8834-4F12-8F5B-1D070F03307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C31CF20-EB04-4BF0-B032-49662D41AA59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F3CFEED-B5CB-46E5-A934-C961740D46B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s-CL" b="1"/>
            <a:t>Metodología:</a:t>
          </a:r>
          <a:r>
            <a:rPr lang="es-CL"/>
            <a:t> Scrum, ideal para desarrollos iterativos y de rápida adaptación.</a:t>
          </a:r>
          <a:endParaRPr lang="en-US"/>
        </a:p>
      </dgm:t>
    </dgm:pt>
    <dgm:pt modelId="{C012CD55-CDC4-4514-BF93-8D3960FE9F97}" type="parTrans" cxnId="{C0369E7C-FE94-42A9-9F05-3317C71E6C44}">
      <dgm:prSet/>
      <dgm:spPr/>
      <dgm:t>
        <a:bodyPr/>
        <a:lstStyle/>
        <a:p>
          <a:endParaRPr lang="en-US"/>
        </a:p>
      </dgm:t>
    </dgm:pt>
    <dgm:pt modelId="{5045437E-F8A5-489E-B291-3F1738BE6827}" type="sibTrans" cxnId="{C0369E7C-FE94-42A9-9F05-3317C71E6C44}">
      <dgm:prSet/>
      <dgm:spPr/>
      <dgm:t>
        <a:bodyPr/>
        <a:lstStyle/>
        <a:p>
          <a:endParaRPr lang="en-US"/>
        </a:p>
      </dgm:t>
    </dgm:pt>
    <dgm:pt modelId="{D83E0436-2C12-4D20-91CE-C6D9F66D402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s-CL" b="1"/>
            <a:t>Roles:</a:t>
          </a:r>
          <a:r>
            <a:rPr lang="es-CL"/>
            <a:t> Autogestionado por Ferdynando Melo como único desarrollador (Dev Squad) y gestor del Backlog (PO/SM).</a:t>
          </a:r>
          <a:endParaRPr lang="en-US"/>
        </a:p>
      </dgm:t>
    </dgm:pt>
    <dgm:pt modelId="{32106180-CD6F-4C13-8738-448215B02391}" type="parTrans" cxnId="{090849A8-DD28-42D0-A848-987191F5DE72}">
      <dgm:prSet/>
      <dgm:spPr/>
      <dgm:t>
        <a:bodyPr/>
        <a:lstStyle/>
        <a:p>
          <a:endParaRPr lang="en-US"/>
        </a:p>
      </dgm:t>
    </dgm:pt>
    <dgm:pt modelId="{3F89A0B2-81C7-4F0E-AC61-5F7626FB482A}" type="sibTrans" cxnId="{090849A8-DD28-42D0-A848-987191F5DE72}">
      <dgm:prSet/>
      <dgm:spPr/>
      <dgm:t>
        <a:bodyPr/>
        <a:lstStyle/>
        <a:p>
          <a:endParaRPr lang="en-US"/>
        </a:p>
      </dgm:t>
    </dgm:pt>
    <dgm:pt modelId="{3C3CD546-7751-484E-B10D-C0DDF33B87C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s-CL" b="1"/>
            <a:t>Planificación del Esfuerzo (420 Story Points en total):</a:t>
          </a:r>
          <a:endParaRPr lang="en-US"/>
        </a:p>
      </dgm:t>
    </dgm:pt>
    <dgm:pt modelId="{B0A45D70-DEE8-47AD-949D-DBF309A43EB8}" type="parTrans" cxnId="{8AB4C01E-20F0-4C4E-9E62-7535EEC08549}">
      <dgm:prSet/>
      <dgm:spPr/>
      <dgm:t>
        <a:bodyPr/>
        <a:lstStyle/>
        <a:p>
          <a:endParaRPr lang="en-US"/>
        </a:p>
      </dgm:t>
    </dgm:pt>
    <dgm:pt modelId="{FD461B21-5088-41E7-8305-920AA42BB97A}" type="sibTrans" cxnId="{8AB4C01E-20F0-4C4E-9E62-7535EEC08549}">
      <dgm:prSet/>
      <dgm:spPr/>
      <dgm:t>
        <a:bodyPr/>
        <a:lstStyle/>
        <a:p>
          <a:endParaRPr lang="en-US"/>
        </a:p>
      </dgm:t>
    </dgm:pt>
    <dgm:pt modelId="{11FF6017-06A6-4986-936B-5D3EB71566EF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b="1" dirty="0"/>
            <a:t>Sprint 1 (140 </a:t>
          </a:r>
          <a:r>
            <a:rPr lang="es-CL" b="1" dirty="0" err="1"/>
            <a:t>pts</a:t>
          </a:r>
          <a:r>
            <a:rPr lang="es-CL" b="1" dirty="0"/>
            <a:t>):</a:t>
          </a:r>
          <a:r>
            <a:rPr lang="es-CL" dirty="0"/>
            <a:t> Cimientos técnicos, persistencia SQLite/Storage, control de acceso (JWT/</a:t>
          </a:r>
          <a:r>
            <a:rPr lang="es-CL" dirty="0" err="1"/>
            <a:t>BCrypt</a:t>
          </a:r>
          <a:r>
            <a:rPr lang="es-CL" dirty="0"/>
            <a:t>) y </a:t>
          </a:r>
          <a:r>
            <a:rPr lang="es-CL" dirty="0" err="1"/>
            <a:t>CRUDs</a:t>
          </a:r>
          <a:r>
            <a:rPr lang="es-CL" dirty="0"/>
            <a:t> de administración de local y cartas.</a:t>
          </a:r>
          <a:endParaRPr lang="en-US" dirty="0"/>
        </a:p>
      </dgm:t>
    </dgm:pt>
    <dgm:pt modelId="{29C6C3C2-41CA-40F2-BF30-C6A891364DBC}" type="parTrans" cxnId="{6CC22619-D367-48EE-B874-D7E3AF3F6611}">
      <dgm:prSet/>
      <dgm:spPr/>
      <dgm:t>
        <a:bodyPr/>
        <a:lstStyle/>
        <a:p>
          <a:endParaRPr lang="en-US"/>
        </a:p>
      </dgm:t>
    </dgm:pt>
    <dgm:pt modelId="{8C586311-6D76-4F4D-9BCC-2F69C1606E95}" type="sibTrans" cxnId="{6CC22619-D367-48EE-B874-D7E3AF3F6611}">
      <dgm:prSet/>
      <dgm:spPr/>
      <dgm:t>
        <a:bodyPr/>
        <a:lstStyle/>
        <a:p>
          <a:endParaRPr lang="en-US"/>
        </a:p>
      </dgm:t>
    </dgm:pt>
    <dgm:pt modelId="{2F863A96-9131-4F3D-AAA6-4614C91887A4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b="1"/>
            <a:t>Sprint 2 (280 pts):</a:t>
          </a:r>
          <a:r>
            <a:rPr lang="es-CL"/>
            <a:t> Tiempo real (Live Status), mapa GPS Leaflet, calificaciones y reseñas, motor de canje, validación de cupones y reportería.</a:t>
          </a:r>
          <a:endParaRPr lang="en-US"/>
        </a:p>
      </dgm:t>
    </dgm:pt>
    <dgm:pt modelId="{34580F0A-85E3-43A2-A59D-F4EE99707D30}" type="parTrans" cxnId="{D16BD5BC-B49E-4A58-A4CD-CD892552C2FB}">
      <dgm:prSet/>
      <dgm:spPr/>
      <dgm:t>
        <a:bodyPr/>
        <a:lstStyle/>
        <a:p>
          <a:endParaRPr lang="en-US"/>
        </a:p>
      </dgm:t>
    </dgm:pt>
    <dgm:pt modelId="{BB8417FC-112C-47E8-AA2E-2C44E3345664}" type="sibTrans" cxnId="{D16BD5BC-B49E-4A58-A4CD-CD892552C2FB}">
      <dgm:prSet/>
      <dgm:spPr/>
      <dgm:t>
        <a:bodyPr/>
        <a:lstStyle/>
        <a:p>
          <a:endParaRPr lang="en-US"/>
        </a:p>
      </dgm:t>
    </dgm:pt>
    <dgm:pt modelId="{5CEB95D1-8EB9-4E1D-A147-091AE4BFAE20}" type="pres">
      <dgm:prSet presAssocID="{6C31CF20-EB04-4BF0-B032-49662D41AA59}" presName="root" presStyleCnt="0">
        <dgm:presLayoutVars>
          <dgm:dir/>
          <dgm:resizeHandles val="exact"/>
        </dgm:presLayoutVars>
      </dgm:prSet>
      <dgm:spPr/>
    </dgm:pt>
    <dgm:pt modelId="{40B23695-D55E-4A2F-A134-71EC8CBF8E43}" type="pres">
      <dgm:prSet presAssocID="{8F3CFEED-B5CB-46E5-A934-C961740D46B8}" presName="compNode" presStyleCnt="0"/>
      <dgm:spPr/>
    </dgm:pt>
    <dgm:pt modelId="{28C92D5F-FDB1-4E26-89E2-A0C7C0A05899}" type="pres">
      <dgm:prSet presAssocID="{8F3CFEED-B5CB-46E5-A934-C961740D46B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s"/>
        </a:ext>
      </dgm:extLst>
    </dgm:pt>
    <dgm:pt modelId="{E702CBEB-A6EE-4B15-A1EC-62662FE9DC3E}" type="pres">
      <dgm:prSet presAssocID="{8F3CFEED-B5CB-46E5-A934-C961740D46B8}" presName="iconSpace" presStyleCnt="0"/>
      <dgm:spPr/>
    </dgm:pt>
    <dgm:pt modelId="{B1D784DC-4CF2-4D4B-B49C-05EA11C12C0F}" type="pres">
      <dgm:prSet presAssocID="{8F3CFEED-B5CB-46E5-A934-C961740D46B8}" presName="parTx" presStyleLbl="revTx" presStyleIdx="0" presStyleCnt="6">
        <dgm:presLayoutVars>
          <dgm:chMax val="0"/>
          <dgm:chPref val="0"/>
        </dgm:presLayoutVars>
      </dgm:prSet>
      <dgm:spPr/>
    </dgm:pt>
    <dgm:pt modelId="{3A3D6C09-C2AB-456A-92CD-97463674860B}" type="pres">
      <dgm:prSet presAssocID="{8F3CFEED-B5CB-46E5-A934-C961740D46B8}" presName="txSpace" presStyleCnt="0"/>
      <dgm:spPr/>
    </dgm:pt>
    <dgm:pt modelId="{543BDEC1-206C-4A34-8829-5BA31595BFDD}" type="pres">
      <dgm:prSet presAssocID="{8F3CFEED-B5CB-46E5-A934-C961740D46B8}" presName="desTx" presStyleLbl="revTx" presStyleIdx="1" presStyleCnt="6">
        <dgm:presLayoutVars/>
      </dgm:prSet>
      <dgm:spPr/>
    </dgm:pt>
    <dgm:pt modelId="{25A427E8-E799-4B44-9879-4E22405FC62E}" type="pres">
      <dgm:prSet presAssocID="{5045437E-F8A5-489E-B291-3F1738BE6827}" presName="sibTrans" presStyleCnt="0"/>
      <dgm:spPr/>
    </dgm:pt>
    <dgm:pt modelId="{C253F112-7609-414D-BBD9-88A30C9DB340}" type="pres">
      <dgm:prSet presAssocID="{D83E0436-2C12-4D20-91CE-C6D9F66D4021}" presName="compNode" presStyleCnt="0"/>
      <dgm:spPr/>
    </dgm:pt>
    <dgm:pt modelId="{6E72D37C-2D34-4B32-859A-69357594805F}" type="pres">
      <dgm:prSet presAssocID="{D83E0436-2C12-4D20-91CE-C6D9F66D402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03A274D6-B5BD-42E2-B9DF-6C16C7A67CBB}" type="pres">
      <dgm:prSet presAssocID="{D83E0436-2C12-4D20-91CE-C6D9F66D4021}" presName="iconSpace" presStyleCnt="0"/>
      <dgm:spPr/>
    </dgm:pt>
    <dgm:pt modelId="{D95A094A-4E92-462B-877C-DF7F1A4BAE45}" type="pres">
      <dgm:prSet presAssocID="{D83E0436-2C12-4D20-91CE-C6D9F66D4021}" presName="parTx" presStyleLbl="revTx" presStyleIdx="2" presStyleCnt="6">
        <dgm:presLayoutVars>
          <dgm:chMax val="0"/>
          <dgm:chPref val="0"/>
        </dgm:presLayoutVars>
      </dgm:prSet>
      <dgm:spPr/>
    </dgm:pt>
    <dgm:pt modelId="{21F18DE2-0901-4AEA-85F5-98AC6262291C}" type="pres">
      <dgm:prSet presAssocID="{D83E0436-2C12-4D20-91CE-C6D9F66D4021}" presName="txSpace" presStyleCnt="0"/>
      <dgm:spPr/>
    </dgm:pt>
    <dgm:pt modelId="{724A615B-28C7-4807-99FB-4848AA137703}" type="pres">
      <dgm:prSet presAssocID="{D83E0436-2C12-4D20-91CE-C6D9F66D4021}" presName="desTx" presStyleLbl="revTx" presStyleIdx="3" presStyleCnt="6">
        <dgm:presLayoutVars/>
      </dgm:prSet>
      <dgm:spPr/>
    </dgm:pt>
    <dgm:pt modelId="{2EE7D344-530A-4F9F-B53F-3BDECC8F34A4}" type="pres">
      <dgm:prSet presAssocID="{3F89A0B2-81C7-4F0E-AC61-5F7626FB482A}" presName="sibTrans" presStyleCnt="0"/>
      <dgm:spPr/>
    </dgm:pt>
    <dgm:pt modelId="{BFB25990-4F22-4C5B-B336-855374AC482E}" type="pres">
      <dgm:prSet presAssocID="{3C3CD546-7751-484E-B10D-C0DDF33B87C3}" presName="compNode" presStyleCnt="0"/>
      <dgm:spPr/>
    </dgm:pt>
    <dgm:pt modelId="{31C32522-75AE-4497-A9FE-8AFEDAD1F72C}" type="pres">
      <dgm:prSet presAssocID="{3C3CD546-7751-484E-B10D-C0DDF33B87C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tear"/>
        </a:ext>
      </dgm:extLst>
    </dgm:pt>
    <dgm:pt modelId="{7A40C958-411E-49DD-895C-67DE8637B60D}" type="pres">
      <dgm:prSet presAssocID="{3C3CD546-7751-484E-B10D-C0DDF33B87C3}" presName="iconSpace" presStyleCnt="0"/>
      <dgm:spPr/>
    </dgm:pt>
    <dgm:pt modelId="{CA7EC2EF-225D-4605-94CB-C55BC6AF99E8}" type="pres">
      <dgm:prSet presAssocID="{3C3CD546-7751-484E-B10D-C0DDF33B87C3}" presName="parTx" presStyleLbl="revTx" presStyleIdx="4" presStyleCnt="6">
        <dgm:presLayoutVars>
          <dgm:chMax val="0"/>
          <dgm:chPref val="0"/>
        </dgm:presLayoutVars>
      </dgm:prSet>
      <dgm:spPr/>
    </dgm:pt>
    <dgm:pt modelId="{24636B8F-E5D7-4E6C-8F8D-D2690F32E6B8}" type="pres">
      <dgm:prSet presAssocID="{3C3CD546-7751-484E-B10D-C0DDF33B87C3}" presName="txSpace" presStyleCnt="0"/>
      <dgm:spPr/>
    </dgm:pt>
    <dgm:pt modelId="{E83E9C70-474C-466B-AC8C-F631D2CB495D}" type="pres">
      <dgm:prSet presAssocID="{3C3CD546-7751-484E-B10D-C0DDF33B87C3}" presName="desTx" presStyleLbl="revTx" presStyleIdx="5" presStyleCnt="6">
        <dgm:presLayoutVars/>
      </dgm:prSet>
      <dgm:spPr/>
    </dgm:pt>
  </dgm:ptLst>
  <dgm:cxnLst>
    <dgm:cxn modelId="{6CC22619-D367-48EE-B874-D7E3AF3F6611}" srcId="{3C3CD546-7751-484E-B10D-C0DDF33B87C3}" destId="{11FF6017-06A6-4986-936B-5D3EB71566EF}" srcOrd="0" destOrd="0" parTransId="{29C6C3C2-41CA-40F2-BF30-C6A891364DBC}" sibTransId="{8C586311-6D76-4F4D-9BCC-2F69C1606E95}"/>
    <dgm:cxn modelId="{533F6B19-7343-4B55-9D99-B37B752076B9}" type="presOf" srcId="{2F863A96-9131-4F3D-AAA6-4614C91887A4}" destId="{E83E9C70-474C-466B-AC8C-F631D2CB495D}" srcOrd="0" destOrd="1" presId="urn:microsoft.com/office/officeart/2018/2/layout/IconLabelDescriptionList"/>
    <dgm:cxn modelId="{8AB4C01E-20F0-4C4E-9E62-7535EEC08549}" srcId="{6C31CF20-EB04-4BF0-B032-49662D41AA59}" destId="{3C3CD546-7751-484E-B10D-C0DDF33B87C3}" srcOrd="2" destOrd="0" parTransId="{B0A45D70-DEE8-47AD-949D-DBF309A43EB8}" sibTransId="{FD461B21-5088-41E7-8305-920AA42BB97A}"/>
    <dgm:cxn modelId="{8BD03540-9170-4ED1-965A-AF7B36FDDA66}" type="presOf" srcId="{11FF6017-06A6-4986-936B-5D3EB71566EF}" destId="{E83E9C70-474C-466B-AC8C-F631D2CB495D}" srcOrd="0" destOrd="0" presId="urn:microsoft.com/office/officeart/2018/2/layout/IconLabelDescriptionList"/>
    <dgm:cxn modelId="{DBB49958-782C-44EB-89A2-CAA34C332E7A}" type="presOf" srcId="{D83E0436-2C12-4D20-91CE-C6D9F66D4021}" destId="{D95A094A-4E92-462B-877C-DF7F1A4BAE45}" srcOrd="0" destOrd="0" presId="urn:microsoft.com/office/officeart/2018/2/layout/IconLabelDescriptionList"/>
    <dgm:cxn modelId="{C0369E7C-FE94-42A9-9F05-3317C71E6C44}" srcId="{6C31CF20-EB04-4BF0-B032-49662D41AA59}" destId="{8F3CFEED-B5CB-46E5-A934-C961740D46B8}" srcOrd="0" destOrd="0" parTransId="{C012CD55-CDC4-4514-BF93-8D3960FE9F97}" sibTransId="{5045437E-F8A5-489E-B291-3F1738BE6827}"/>
    <dgm:cxn modelId="{9B136A9C-D9B6-46EE-AFE2-C53E955AA628}" type="presOf" srcId="{6C31CF20-EB04-4BF0-B032-49662D41AA59}" destId="{5CEB95D1-8EB9-4E1D-A147-091AE4BFAE20}" srcOrd="0" destOrd="0" presId="urn:microsoft.com/office/officeart/2018/2/layout/IconLabelDescriptionList"/>
    <dgm:cxn modelId="{090849A8-DD28-42D0-A848-987191F5DE72}" srcId="{6C31CF20-EB04-4BF0-B032-49662D41AA59}" destId="{D83E0436-2C12-4D20-91CE-C6D9F66D4021}" srcOrd="1" destOrd="0" parTransId="{32106180-CD6F-4C13-8738-448215B02391}" sibTransId="{3F89A0B2-81C7-4F0E-AC61-5F7626FB482A}"/>
    <dgm:cxn modelId="{825DA0B7-978B-4662-9A9A-D8C859E160F3}" type="presOf" srcId="{8F3CFEED-B5CB-46E5-A934-C961740D46B8}" destId="{B1D784DC-4CF2-4D4B-B49C-05EA11C12C0F}" srcOrd="0" destOrd="0" presId="urn:microsoft.com/office/officeart/2018/2/layout/IconLabelDescriptionList"/>
    <dgm:cxn modelId="{D16BD5BC-B49E-4A58-A4CD-CD892552C2FB}" srcId="{3C3CD546-7751-484E-B10D-C0DDF33B87C3}" destId="{2F863A96-9131-4F3D-AAA6-4614C91887A4}" srcOrd="1" destOrd="0" parTransId="{34580F0A-85E3-43A2-A59D-F4EE99707D30}" sibTransId="{BB8417FC-112C-47E8-AA2E-2C44E3345664}"/>
    <dgm:cxn modelId="{8CE43CC1-9BD1-4549-91DA-A907CF7BF33A}" type="presOf" srcId="{3C3CD546-7751-484E-B10D-C0DDF33B87C3}" destId="{CA7EC2EF-225D-4605-94CB-C55BC6AF99E8}" srcOrd="0" destOrd="0" presId="urn:microsoft.com/office/officeart/2018/2/layout/IconLabelDescriptionList"/>
    <dgm:cxn modelId="{A3014043-8BA1-48D4-83ED-36E9DB6F5181}" type="presParOf" srcId="{5CEB95D1-8EB9-4E1D-A147-091AE4BFAE20}" destId="{40B23695-D55E-4A2F-A134-71EC8CBF8E43}" srcOrd="0" destOrd="0" presId="urn:microsoft.com/office/officeart/2018/2/layout/IconLabelDescriptionList"/>
    <dgm:cxn modelId="{B10BBF43-8E58-4204-A10A-22D939FBFFB5}" type="presParOf" srcId="{40B23695-D55E-4A2F-A134-71EC8CBF8E43}" destId="{28C92D5F-FDB1-4E26-89E2-A0C7C0A05899}" srcOrd="0" destOrd="0" presId="urn:microsoft.com/office/officeart/2018/2/layout/IconLabelDescriptionList"/>
    <dgm:cxn modelId="{5E061CD6-92EE-4AF7-A87B-E315492C8579}" type="presParOf" srcId="{40B23695-D55E-4A2F-A134-71EC8CBF8E43}" destId="{E702CBEB-A6EE-4B15-A1EC-62662FE9DC3E}" srcOrd="1" destOrd="0" presId="urn:microsoft.com/office/officeart/2018/2/layout/IconLabelDescriptionList"/>
    <dgm:cxn modelId="{21F5911E-A418-48F2-8831-6E51BE363CB7}" type="presParOf" srcId="{40B23695-D55E-4A2F-A134-71EC8CBF8E43}" destId="{B1D784DC-4CF2-4D4B-B49C-05EA11C12C0F}" srcOrd="2" destOrd="0" presId="urn:microsoft.com/office/officeart/2018/2/layout/IconLabelDescriptionList"/>
    <dgm:cxn modelId="{66900A94-15DB-43DB-A322-EFAE09AC15CC}" type="presParOf" srcId="{40B23695-D55E-4A2F-A134-71EC8CBF8E43}" destId="{3A3D6C09-C2AB-456A-92CD-97463674860B}" srcOrd="3" destOrd="0" presId="urn:microsoft.com/office/officeart/2018/2/layout/IconLabelDescriptionList"/>
    <dgm:cxn modelId="{1DFEB473-2715-4231-B8CB-7FED480BD1F5}" type="presParOf" srcId="{40B23695-D55E-4A2F-A134-71EC8CBF8E43}" destId="{543BDEC1-206C-4A34-8829-5BA31595BFDD}" srcOrd="4" destOrd="0" presId="urn:microsoft.com/office/officeart/2018/2/layout/IconLabelDescriptionList"/>
    <dgm:cxn modelId="{D25CC0FA-2835-444F-89FD-D38E72EB2458}" type="presParOf" srcId="{5CEB95D1-8EB9-4E1D-A147-091AE4BFAE20}" destId="{25A427E8-E799-4B44-9879-4E22405FC62E}" srcOrd="1" destOrd="0" presId="urn:microsoft.com/office/officeart/2018/2/layout/IconLabelDescriptionList"/>
    <dgm:cxn modelId="{F8E82072-9B54-42B5-887A-D220B32C479E}" type="presParOf" srcId="{5CEB95D1-8EB9-4E1D-A147-091AE4BFAE20}" destId="{C253F112-7609-414D-BBD9-88A30C9DB340}" srcOrd="2" destOrd="0" presId="urn:microsoft.com/office/officeart/2018/2/layout/IconLabelDescriptionList"/>
    <dgm:cxn modelId="{27746E04-33D2-4473-913B-A4185C93A95C}" type="presParOf" srcId="{C253F112-7609-414D-BBD9-88A30C9DB340}" destId="{6E72D37C-2D34-4B32-859A-69357594805F}" srcOrd="0" destOrd="0" presId="urn:microsoft.com/office/officeart/2018/2/layout/IconLabelDescriptionList"/>
    <dgm:cxn modelId="{820A02EA-1B02-4413-B7F5-060A608AC33D}" type="presParOf" srcId="{C253F112-7609-414D-BBD9-88A30C9DB340}" destId="{03A274D6-B5BD-42E2-B9DF-6C16C7A67CBB}" srcOrd="1" destOrd="0" presId="urn:microsoft.com/office/officeart/2018/2/layout/IconLabelDescriptionList"/>
    <dgm:cxn modelId="{5DFA1607-BC70-43FB-9E5E-7F3C3CEA7FBD}" type="presParOf" srcId="{C253F112-7609-414D-BBD9-88A30C9DB340}" destId="{D95A094A-4E92-462B-877C-DF7F1A4BAE45}" srcOrd="2" destOrd="0" presId="urn:microsoft.com/office/officeart/2018/2/layout/IconLabelDescriptionList"/>
    <dgm:cxn modelId="{AE0E51EF-7BC1-4BBD-B4C7-E3CE777846E8}" type="presParOf" srcId="{C253F112-7609-414D-BBD9-88A30C9DB340}" destId="{21F18DE2-0901-4AEA-85F5-98AC6262291C}" srcOrd="3" destOrd="0" presId="urn:microsoft.com/office/officeart/2018/2/layout/IconLabelDescriptionList"/>
    <dgm:cxn modelId="{EC346BAE-2950-48A5-A079-6073F133B32C}" type="presParOf" srcId="{C253F112-7609-414D-BBD9-88A30C9DB340}" destId="{724A615B-28C7-4807-99FB-4848AA137703}" srcOrd="4" destOrd="0" presId="urn:microsoft.com/office/officeart/2018/2/layout/IconLabelDescriptionList"/>
    <dgm:cxn modelId="{0B136023-1902-41AF-B95B-4BFE29337CA7}" type="presParOf" srcId="{5CEB95D1-8EB9-4E1D-A147-091AE4BFAE20}" destId="{2EE7D344-530A-4F9F-B53F-3BDECC8F34A4}" srcOrd="3" destOrd="0" presId="urn:microsoft.com/office/officeart/2018/2/layout/IconLabelDescriptionList"/>
    <dgm:cxn modelId="{682E26A3-A0D6-4A8B-90B6-267457711122}" type="presParOf" srcId="{5CEB95D1-8EB9-4E1D-A147-091AE4BFAE20}" destId="{BFB25990-4F22-4C5B-B336-855374AC482E}" srcOrd="4" destOrd="0" presId="urn:microsoft.com/office/officeart/2018/2/layout/IconLabelDescriptionList"/>
    <dgm:cxn modelId="{675BF542-3518-4539-BFC4-A4772BC7FAAA}" type="presParOf" srcId="{BFB25990-4F22-4C5B-B336-855374AC482E}" destId="{31C32522-75AE-4497-A9FE-8AFEDAD1F72C}" srcOrd="0" destOrd="0" presId="urn:microsoft.com/office/officeart/2018/2/layout/IconLabelDescriptionList"/>
    <dgm:cxn modelId="{BA750457-79B3-4EAF-A1F5-6C581E6B8CE0}" type="presParOf" srcId="{BFB25990-4F22-4C5B-B336-855374AC482E}" destId="{7A40C958-411E-49DD-895C-67DE8637B60D}" srcOrd="1" destOrd="0" presId="urn:microsoft.com/office/officeart/2018/2/layout/IconLabelDescriptionList"/>
    <dgm:cxn modelId="{44FA3E3B-8937-438F-A7C0-2D29B34976F0}" type="presParOf" srcId="{BFB25990-4F22-4C5B-B336-855374AC482E}" destId="{CA7EC2EF-225D-4605-94CB-C55BC6AF99E8}" srcOrd="2" destOrd="0" presId="urn:microsoft.com/office/officeart/2018/2/layout/IconLabelDescriptionList"/>
    <dgm:cxn modelId="{BC254A93-86A1-40BB-AAF4-35FCE6E8BD97}" type="presParOf" srcId="{BFB25990-4F22-4C5B-B336-855374AC482E}" destId="{24636B8F-E5D7-4E6C-8F8D-D2690F32E6B8}" srcOrd="3" destOrd="0" presId="urn:microsoft.com/office/officeart/2018/2/layout/IconLabelDescriptionList"/>
    <dgm:cxn modelId="{168F7AF9-F54B-4AA9-BBBC-6180BCCDC3E5}" type="presParOf" srcId="{BFB25990-4F22-4C5B-B336-855374AC482E}" destId="{E83E9C70-474C-466B-AC8C-F631D2CB495D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DB9434-0D21-4B36-9A73-EAD7A4CDF59B}">
      <dsp:nvSpPr>
        <dsp:cNvPr id="0" name=""/>
        <dsp:cNvSpPr/>
      </dsp:nvSpPr>
      <dsp:spPr>
        <a:xfrm>
          <a:off x="0" y="372419"/>
          <a:ext cx="7315200" cy="264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7741" tIns="416560" rIns="567741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/>
            <a:t>Horarios teóricos obsoletos en plataformas tradicionales.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/>
            <a:t>Traslados frustrados a locales que se encuentran cerrados de imprevisto.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/>
            <a:t>Cartas y precios desactualizados.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/>
            <a:t>Reseñas y valoraciones sin incentivo real ni control de veracidad.</a:t>
          </a:r>
          <a:endParaRPr lang="en-US" sz="2000" kern="1200"/>
        </a:p>
      </dsp:txBody>
      <dsp:txXfrm>
        <a:off x="0" y="372419"/>
        <a:ext cx="7315200" cy="2646000"/>
      </dsp:txXfrm>
    </dsp:sp>
    <dsp:sp modelId="{F18BF7DB-7224-4AFC-8812-B89591F2392A}">
      <dsp:nvSpPr>
        <dsp:cNvPr id="0" name=""/>
        <dsp:cNvSpPr/>
      </dsp:nvSpPr>
      <dsp:spPr>
        <a:xfrm>
          <a:off x="365760" y="77219"/>
          <a:ext cx="5120640" cy="59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3548" tIns="0" rIns="193548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b="1" kern="1200"/>
            <a:t>Dolores del Cliente (Problemáticas):</a:t>
          </a:r>
          <a:endParaRPr lang="en-US" sz="2000" kern="1200"/>
        </a:p>
      </dsp:txBody>
      <dsp:txXfrm>
        <a:off x="394581" y="106040"/>
        <a:ext cx="5062998" cy="532758"/>
      </dsp:txXfrm>
    </dsp:sp>
    <dsp:sp modelId="{7EBFE4F5-6ADE-4666-8396-DC32D14B7539}">
      <dsp:nvSpPr>
        <dsp:cNvPr id="0" name=""/>
        <dsp:cNvSpPr/>
      </dsp:nvSpPr>
      <dsp:spPr>
        <a:xfrm>
          <a:off x="0" y="3421620"/>
          <a:ext cx="7315200" cy="2079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7741" tIns="416560" rIns="567741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/>
            <a:t>Pérdida de tiempo y recursos para el consumidor.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/>
            <a:t>Pérdida de oportunidades de venta y visibilidad para las pymes locales.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/>
            <a:t>Dependencia forzada de aplicaciones de delivery con comisiones de intermediación de hasta un 30%.</a:t>
          </a:r>
          <a:endParaRPr lang="en-US" sz="2000" kern="1200"/>
        </a:p>
      </dsp:txBody>
      <dsp:txXfrm>
        <a:off x="0" y="3421620"/>
        <a:ext cx="7315200" cy="2079000"/>
      </dsp:txXfrm>
    </dsp:sp>
    <dsp:sp modelId="{9CA160CD-52D5-48FA-9E70-6352EAD720F3}">
      <dsp:nvSpPr>
        <dsp:cNvPr id="0" name=""/>
        <dsp:cNvSpPr/>
      </dsp:nvSpPr>
      <dsp:spPr>
        <a:xfrm>
          <a:off x="365760" y="3126420"/>
          <a:ext cx="5120640" cy="59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3548" tIns="0" rIns="193548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b="1" kern="1200"/>
            <a:t>Impacto de la Problemática:</a:t>
          </a:r>
          <a:endParaRPr lang="en-US" sz="2000" kern="1200"/>
        </a:p>
      </dsp:txBody>
      <dsp:txXfrm>
        <a:off x="394581" y="3155241"/>
        <a:ext cx="5062998" cy="5327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BCA2CC-B23B-41F0-B05D-1FF87D45D599}">
      <dsp:nvSpPr>
        <dsp:cNvPr id="0" name=""/>
        <dsp:cNvSpPr/>
      </dsp:nvSpPr>
      <dsp:spPr>
        <a:xfrm rot="5400000">
          <a:off x="7187961" y="-2939447"/>
          <a:ext cx="1131570" cy="729764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600" b="1" kern="1200"/>
            <a:t>Cliente Comensal:</a:t>
          </a:r>
          <a:r>
            <a:rPr lang="es-CL" sz="1600" kern="1200"/>
            <a:t> Quien busca locales, consulta cartas, verifica el estado en vivo, califica y canjea cupones.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600" b="1" kern="1200"/>
            <a:t>Locatario/Administrador:</a:t>
          </a:r>
          <a:r>
            <a:rPr lang="es-CL" sz="1600" kern="1200"/>
            <a:t> Quien gestiona el local, actualiza la carta digital, controla el interruptor Live Status y valida los cupones.</a:t>
          </a:r>
          <a:endParaRPr lang="en-US" sz="1600" kern="1200"/>
        </a:p>
      </dsp:txBody>
      <dsp:txXfrm rot="-5400000">
        <a:off x="4104925" y="198828"/>
        <a:ext cx="7242404" cy="1021092"/>
      </dsp:txXfrm>
    </dsp:sp>
    <dsp:sp modelId="{083836B8-90EB-4409-8168-12218D570804}">
      <dsp:nvSpPr>
        <dsp:cNvPr id="0" name=""/>
        <dsp:cNvSpPr/>
      </dsp:nvSpPr>
      <dsp:spPr>
        <a:xfrm>
          <a:off x="0" y="2143"/>
          <a:ext cx="4104924" cy="14144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900" b="1" kern="1200"/>
            <a:t>1. Actores Principales (Usuarios Directos):</a:t>
          </a:r>
          <a:endParaRPr lang="en-US" sz="2900" kern="1200"/>
        </a:p>
      </dsp:txBody>
      <dsp:txXfrm>
        <a:off x="69048" y="71191"/>
        <a:ext cx="3966828" cy="1276366"/>
      </dsp:txXfrm>
    </dsp:sp>
    <dsp:sp modelId="{2D6EAD26-CDEE-4BFA-B2BB-2041B73A5077}">
      <dsp:nvSpPr>
        <dsp:cNvPr id="0" name=""/>
        <dsp:cNvSpPr/>
      </dsp:nvSpPr>
      <dsp:spPr>
        <a:xfrm rot="5400000">
          <a:off x="7187961" y="-1454261"/>
          <a:ext cx="1131570" cy="729764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600" b="1" kern="1200"/>
            <a:t>Ferdynando Melo:</a:t>
          </a:r>
          <a:r>
            <a:rPr lang="es-CL" sz="1600" kern="1200"/>
            <a:t> Asumiendo los roles de Product Owner, Scrum Master y Desarrollador Fullstack.</a:t>
          </a:r>
          <a:endParaRPr lang="en-US" sz="1600" kern="1200"/>
        </a:p>
      </dsp:txBody>
      <dsp:txXfrm rot="-5400000">
        <a:off x="4104925" y="1684014"/>
        <a:ext cx="7242404" cy="1021092"/>
      </dsp:txXfrm>
    </dsp:sp>
    <dsp:sp modelId="{167E33B9-4EDE-4DFD-8B6C-B4F06557225F}">
      <dsp:nvSpPr>
        <dsp:cNvPr id="0" name=""/>
        <dsp:cNvSpPr/>
      </dsp:nvSpPr>
      <dsp:spPr>
        <a:xfrm>
          <a:off x="0" y="1487328"/>
          <a:ext cx="4104924" cy="14144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900" b="1" kern="1200"/>
            <a:t>2. Actores Internos (Equipo de Desarrollo):</a:t>
          </a:r>
          <a:endParaRPr lang="en-US" sz="2900" kern="1200"/>
        </a:p>
      </dsp:txBody>
      <dsp:txXfrm>
        <a:off x="69048" y="1556376"/>
        <a:ext cx="3966828" cy="1276366"/>
      </dsp:txXfrm>
    </dsp:sp>
    <dsp:sp modelId="{3C794A54-8834-4F12-8F5B-1D070F033077}">
      <dsp:nvSpPr>
        <dsp:cNvPr id="0" name=""/>
        <dsp:cNvSpPr/>
      </dsp:nvSpPr>
      <dsp:spPr>
        <a:xfrm rot="5400000">
          <a:off x="7187961" y="30923"/>
          <a:ext cx="1131570" cy="729764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600" b="1" kern="1200"/>
            <a:t>Docente Guía y Comisión Evaluadora:</a:t>
          </a:r>
          <a:r>
            <a:rPr lang="es-CL" sz="1600" kern="1200"/>
            <a:t> Supervisión, retroalimentación y evaluación de hitos.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600" b="1" kern="1200"/>
            <a:t>Proveedores de APIs (Leaflet / OpenStreetMap):</a:t>
          </a:r>
          <a:r>
            <a:rPr lang="es-CL" sz="1600" kern="1200"/>
            <a:t> Servicios para el mapa interactivo.</a:t>
          </a:r>
          <a:endParaRPr lang="en-US" sz="1600" kern="1200"/>
        </a:p>
      </dsp:txBody>
      <dsp:txXfrm rot="-5400000">
        <a:off x="4104925" y="3169199"/>
        <a:ext cx="7242404" cy="1021092"/>
      </dsp:txXfrm>
    </dsp:sp>
    <dsp:sp modelId="{1DC9E70A-09B6-40B5-A15C-33EEF24EB2B5}">
      <dsp:nvSpPr>
        <dsp:cNvPr id="0" name=""/>
        <dsp:cNvSpPr/>
      </dsp:nvSpPr>
      <dsp:spPr>
        <a:xfrm>
          <a:off x="0" y="2972514"/>
          <a:ext cx="4104924" cy="14144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900" b="1" kern="1200"/>
            <a:t>3. Actores Indirectos e Involucrados:</a:t>
          </a:r>
          <a:endParaRPr lang="en-US" sz="2900" kern="1200"/>
        </a:p>
      </dsp:txBody>
      <dsp:txXfrm>
        <a:off x="69048" y="3041562"/>
        <a:ext cx="3966828" cy="12763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C92D5F-FDB1-4E26-89E2-A0C7C0A05899}">
      <dsp:nvSpPr>
        <dsp:cNvPr id="0" name=""/>
        <dsp:cNvSpPr/>
      </dsp:nvSpPr>
      <dsp:spPr>
        <a:xfrm>
          <a:off x="7144" y="330145"/>
          <a:ext cx="750839" cy="5819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D784DC-4CF2-4D4B-B49C-05EA11C12C0F}">
      <dsp:nvSpPr>
        <dsp:cNvPr id="0" name=""/>
        <dsp:cNvSpPr/>
      </dsp:nvSpPr>
      <dsp:spPr>
        <a:xfrm>
          <a:off x="7144" y="1009550"/>
          <a:ext cx="2145257" cy="8367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L" sz="1400" b="1" kern="1200"/>
            <a:t>Metodología:</a:t>
          </a:r>
          <a:r>
            <a:rPr lang="es-CL" sz="1400" kern="1200"/>
            <a:t> Scrum, ideal para desarrollos iterativos y de rápida adaptación.</a:t>
          </a:r>
          <a:endParaRPr lang="en-US" sz="1400" kern="1200"/>
        </a:p>
      </dsp:txBody>
      <dsp:txXfrm>
        <a:off x="7144" y="1009550"/>
        <a:ext cx="2145257" cy="836757"/>
      </dsp:txXfrm>
    </dsp:sp>
    <dsp:sp modelId="{543BDEC1-206C-4A34-8829-5BA31595BFDD}">
      <dsp:nvSpPr>
        <dsp:cNvPr id="0" name=""/>
        <dsp:cNvSpPr/>
      </dsp:nvSpPr>
      <dsp:spPr>
        <a:xfrm>
          <a:off x="7144" y="1891623"/>
          <a:ext cx="2145257" cy="704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72D37C-2D34-4B32-859A-69357594805F}">
      <dsp:nvSpPr>
        <dsp:cNvPr id="0" name=""/>
        <dsp:cNvSpPr/>
      </dsp:nvSpPr>
      <dsp:spPr>
        <a:xfrm>
          <a:off x="2527821" y="330145"/>
          <a:ext cx="750839" cy="5819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5A094A-4E92-462B-877C-DF7F1A4BAE45}">
      <dsp:nvSpPr>
        <dsp:cNvPr id="0" name=""/>
        <dsp:cNvSpPr/>
      </dsp:nvSpPr>
      <dsp:spPr>
        <a:xfrm>
          <a:off x="2527821" y="1009550"/>
          <a:ext cx="2145257" cy="8367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L" sz="1400" b="1" kern="1200"/>
            <a:t>Roles:</a:t>
          </a:r>
          <a:r>
            <a:rPr lang="es-CL" sz="1400" kern="1200"/>
            <a:t> Autogestionado por Ferdynando Melo como único desarrollador (Dev Squad) y gestor del Backlog (PO/SM).</a:t>
          </a:r>
          <a:endParaRPr lang="en-US" sz="1400" kern="1200"/>
        </a:p>
      </dsp:txBody>
      <dsp:txXfrm>
        <a:off x="2527821" y="1009550"/>
        <a:ext cx="2145257" cy="836757"/>
      </dsp:txXfrm>
    </dsp:sp>
    <dsp:sp modelId="{724A615B-28C7-4807-99FB-4848AA137703}">
      <dsp:nvSpPr>
        <dsp:cNvPr id="0" name=""/>
        <dsp:cNvSpPr/>
      </dsp:nvSpPr>
      <dsp:spPr>
        <a:xfrm>
          <a:off x="2527821" y="1891623"/>
          <a:ext cx="2145257" cy="704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C32522-75AE-4497-A9FE-8AFEDAD1F72C}">
      <dsp:nvSpPr>
        <dsp:cNvPr id="0" name=""/>
        <dsp:cNvSpPr/>
      </dsp:nvSpPr>
      <dsp:spPr>
        <a:xfrm>
          <a:off x="5048498" y="330145"/>
          <a:ext cx="750839" cy="5819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7EC2EF-225D-4605-94CB-C55BC6AF99E8}">
      <dsp:nvSpPr>
        <dsp:cNvPr id="0" name=""/>
        <dsp:cNvSpPr/>
      </dsp:nvSpPr>
      <dsp:spPr>
        <a:xfrm>
          <a:off x="5048498" y="1009550"/>
          <a:ext cx="2145257" cy="8367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L" sz="1400" b="1" kern="1200"/>
            <a:t>Planificación del Esfuerzo (420 Story Points en total):</a:t>
          </a:r>
          <a:endParaRPr lang="en-US" sz="1400" kern="1200"/>
        </a:p>
      </dsp:txBody>
      <dsp:txXfrm>
        <a:off x="5048498" y="1009550"/>
        <a:ext cx="2145257" cy="836757"/>
      </dsp:txXfrm>
    </dsp:sp>
    <dsp:sp modelId="{E83E9C70-474C-466B-AC8C-F631D2CB495D}">
      <dsp:nvSpPr>
        <dsp:cNvPr id="0" name=""/>
        <dsp:cNvSpPr/>
      </dsp:nvSpPr>
      <dsp:spPr>
        <a:xfrm>
          <a:off x="5048498" y="1891623"/>
          <a:ext cx="2145257" cy="704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b="1" kern="1200" dirty="0"/>
            <a:t>Sprint 1 (140 </a:t>
          </a:r>
          <a:r>
            <a:rPr lang="es-CL" sz="1100" b="1" kern="1200" dirty="0" err="1"/>
            <a:t>pts</a:t>
          </a:r>
          <a:r>
            <a:rPr lang="es-CL" sz="1100" b="1" kern="1200" dirty="0"/>
            <a:t>):</a:t>
          </a:r>
          <a:r>
            <a:rPr lang="es-CL" sz="1100" kern="1200" dirty="0"/>
            <a:t> Cimientos técnicos, persistencia SQLite/Storage, control de acceso (JWT/</a:t>
          </a:r>
          <a:r>
            <a:rPr lang="es-CL" sz="1100" kern="1200" dirty="0" err="1"/>
            <a:t>BCrypt</a:t>
          </a:r>
          <a:r>
            <a:rPr lang="es-CL" sz="1100" kern="1200" dirty="0"/>
            <a:t>) y </a:t>
          </a:r>
          <a:r>
            <a:rPr lang="es-CL" sz="1100" kern="1200" dirty="0" err="1"/>
            <a:t>CRUDs</a:t>
          </a:r>
          <a:r>
            <a:rPr lang="es-CL" sz="1100" kern="1200" dirty="0"/>
            <a:t> de administración de local y cartas.</a:t>
          </a: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b="1" kern="1200"/>
            <a:t>Sprint 2 (280 pts):</a:t>
          </a:r>
          <a:r>
            <a:rPr lang="es-CL" sz="1100" kern="1200"/>
            <a:t> Tiempo real (Live Status), mapa GPS Leaflet, calificaciones y reseñas, motor de canje, validación de cupones y reportería.</a:t>
          </a:r>
          <a:endParaRPr lang="en-US" sz="1100" kern="1200"/>
        </a:p>
      </dsp:txBody>
      <dsp:txXfrm>
        <a:off x="5048498" y="1891623"/>
        <a:ext cx="2145257" cy="704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208360-F5DE-4D3F-8989-3B90D184E25B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776595-EF68-408C-AD10-C1151EEF8B6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34450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76595-EF68-408C-AD10-C1151EEF8B6F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2699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A872830-8F41-4EBF-A9A6-A0AFADBDD51F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CB51252-BACA-4908-A6E4-8E276B9C8C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887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A872830-8F41-4EBF-A9A6-A0AFADBDD51F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CB51252-BACA-4908-A6E4-8E276B9C8CC4}" type="slidenum">
              <a:rPr lang="es-CL" smtClean="0"/>
              <a:t>‹Nº›</a:t>
            </a:fld>
            <a:endParaRPr lang="es-CL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7919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4A872830-8F41-4EBF-A9A6-A0AFADBDD51F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s-CL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DCB51252-BACA-4908-A6E4-8E276B9C8C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72547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72830-8F41-4EBF-A9A6-A0AFADBDD51F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51252-BACA-4908-A6E4-8E276B9C8CC4}" type="slidenum">
              <a:rPr lang="es-CL" smtClean="0"/>
              <a:t>‹Nº›</a:t>
            </a:fld>
            <a:endParaRPr lang="es-C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716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72830-8F41-4EBF-A9A6-A0AFADBDD51F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51252-BACA-4908-A6E4-8E276B9C8C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1067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A872830-8F41-4EBF-A9A6-A0AFADBDD51F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s-CL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CB51252-BACA-4908-A6E4-8E276B9C8CC4}" type="slidenum">
              <a:rPr lang="es-CL" smtClean="0"/>
              <a:t>‹Nº›</a:t>
            </a:fld>
            <a:endParaRPr lang="es-CL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0364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A872830-8F41-4EBF-A9A6-A0AFADBDD51F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CB51252-BACA-4908-A6E4-8E276B9C8CC4}" type="slidenum">
              <a:rPr lang="es-CL" smtClean="0"/>
              <a:t>‹Nº›</a:t>
            </a:fld>
            <a:endParaRPr lang="es-CL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2115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A872830-8F41-4EBF-A9A6-A0AFADBDD51F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CB51252-BACA-4908-A6E4-8E276B9C8CC4}" type="slidenum">
              <a:rPr lang="es-CL" smtClean="0"/>
              <a:t>‹Nº›</a:t>
            </a:fld>
            <a:endParaRPr lang="es-CL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86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A872830-8F41-4EBF-A9A6-A0AFADBDD51F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s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CB51252-BACA-4908-A6E4-8E276B9C8CC4}" type="slidenum">
              <a:rPr lang="es-CL" smtClean="0"/>
              <a:t>‹Nº›</a:t>
            </a:fld>
            <a:endParaRPr lang="es-CL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759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4A872830-8F41-4EBF-A9A6-A0AFADBDD51F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s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DCB51252-BACA-4908-A6E4-8E276B9C8CC4}" type="slidenum">
              <a:rPr lang="es-CL" smtClean="0"/>
              <a:t>‹Nº›</a:t>
            </a:fld>
            <a:endParaRPr lang="es-CL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437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4A872830-8F41-4EBF-A9A6-A0AFADBDD51F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DCB51252-BACA-4908-A6E4-8E276B9C8CC4}" type="slidenum">
              <a:rPr lang="es-CL" smtClean="0"/>
              <a:t>‹Nº›</a:t>
            </a:fld>
            <a:endParaRPr lang="es-C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396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4A872830-8F41-4EBF-A9A6-A0AFADBDD51F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s-CL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CB51252-BACA-4908-A6E4-8E276B9C8CC4}" type="slidenum">
              <a:rPr lang="es-CL" smtClean="0"/>
              <a:t>‹Nº›</a:t>
            </a:fld>
            <a:endParaRPr lang="es-CL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9961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72830-8F41-4EBF-A9A6-A0AFADBDD51F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51252-BACA-4908-A6E4-8E276B9C8CC4}" type="slidenum">
              <a:rPr lang="es-CL" smtClean="0"/>
              <a:t>‹Nº›</a:t>
            </a:fld>
            <a:endParaRPr lang="es-CL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9224080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A872830-8F41-4EBF-A9A6-A0AFADBDD51F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s-CL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DCB51252-BACA-4908-A6E4-8E276B9C8CC4}" type="slidenum">
              <a:rPr lang="es-CL" smtClean="0"/>
              <a:t>‹Nº›</a:t>
            </a:fld>
            <a:endParaRPr lang="es-CL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78626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4A872830-8F41-4EBF-A9A6-A0AFADBDD51F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s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DCB51252-BACA-4908-A6E4-8E276B9C8CC4}" type="slidenum">
              <a:rPr lang="es-CL" smtClean="0"/>
              <a:t>‹Nº›</a:t>
            </a:fld>
            <a:endParaRPr lang="es-CL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19987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4A872830-8F41-4EBF-A9A6-A0AFADBDD51F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s-CL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DCB51252-BACA-4908-A6E4-8E276B9C8CC4}" type="slidenum">
              <a:rPr lang="es-CL" smtClean="0"/>
              <a:t>‹Nº›</a:t>
            </a:fld>
            <a:endParaRPr lang="es-CL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26880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A872830-8F41-4EBF-A9A6-A0AFADBDD51F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s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CB51252-BACA-4908-A6E4-8E276B9C8CC4}" type="slidenum">
              <a:rPr lang="es-CL" smtClean="0"/>
              <a:t>‹Nº›</a:t>
            </a:fld>
            <a:endParaRPr lang="es-CL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817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A872830-8F41-4EBF-A9A6-A0AFADBDD51F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s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CB51252-BACA-4908-A6E4-8E276B9C8CC4}" type="slidenum">
              <a:rPr lang="es-CL" smtClean="0"/>
              <a:t>‹Nº›</a:t>
            </a:fld>
            <a:endParaRPr lang="es-CL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1134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A872830-8F41-4EBF-A9A6-A0AFADBDD51F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CB51252-BACA-4908-A6E4-8E276B9C8CC4}" type="slidenum">
              <a:rPr lang="es-CL" smtClean="0"/>
              <a:t>‹Nº›</a:t>
            </a:fld>
            <a:endParaRPr lang="es-CL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22067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A872830-8F41-4EBF-A9A6-A0AFADBDD51F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CB51252-BACA-4908-A6E4-8E276B9C8CC4}" type="slidenum">
              <a:rPr lang="es-CL" smtClean="0"/>
              <a:t>‹Nº›</a:t>
            </a:fld>
            <a:endParaRPr lang="es-CL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47496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A872830-8F41-4EBF-A9A6-A0AFADBDD51F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CB51252-BACA-4908-A6E4-8E276B9C8CC4}" type="slidenum">
              <a:rPr lang="es-CL" smtClean="0"/>
              <a:t>‹Nº›</a:t>
            </a:fld>
            <a:endParaRPr lang="es-CL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1347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A872830-8F41-4EBF-A9A6-A0AFADBDD51F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CB51252-BACA-4908-A6E4-8E276B9C8CC4}" type="slidenum">
              <a:rPr lang="es-CL" smtClean="0"/>
              <a:t>‹Nº›</a:t>
            </a:fld>
            <a:endParaRPr lang="es-CL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6190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A872830-8F41-4EBF-A9A6-A0AFADBDD51F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CB51252-BACA-4908-A6E4-8E276B9C8CC4}" type="slidenum">
              <a:rPr lang="es-CL" smtClean="0"/>
              <a:t>‹Nº›</a:t>
            </a:fld>
            <a:endParaRPr lang="es-CL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809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A872830-8F41-4EBF-A9A6-A0AFADBDD51F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CB51252-BACA-4908-A6E4-8E276B9C8CC4}" type="slidenum">
              <a:rPr lang="es-CL" smtClean="0"/>
              <a:t>‹Nº›</a:t>
            </a:fld>
            <a:endParaRPr lang="es-CL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49599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A872830-8F41-4EBF-A9A6-A0AFADBDD51F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CB51252-BACA-4908-A6E4-8E276B9C8CC4}" type="slidenum">
              <a:rPr lang="es-CL" smtClean="0"/>
              <a:t>‹Nº›</a:t>
            </a:fld>
            <a:endParaRPr lang="es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4989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72830-8F41-4EBF-A9A6-A0AFADBDD51F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51252-BACA-4908-A6E4-8E276B9C8C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340716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72830-8F41-4EBF-A9A6-A0AFADBDD51F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51252-BACA-4908-A6E4-8E276B9C8C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01237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4A872830-8F41-4EBF-A9A6-A0AFADBDD51F}" type="datetimeFigureOut">
              <a:rPr lang="es-CL" smtClean="0"/>
              <a:t>05-10-2026</a:t>
            </a:fld>
            <a:endParaRPr lang="es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DCB51252-BACA-4908-A6E4-8E276B9C8CC4}" type="slidenum">
              <a:rPr lang="es-CL" smtClean="0"/>
              <a:t>‹Nº›</a:t>
            </a:fld>
            <a:endParaRPr lang="es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26132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84FBD1E5-EEF1-0C92-2DFB-186FD00A4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22683"/>
            <a:ext cx="3555873" cy="158191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s-CL" i="1" dirty="0"/>
              <a:t>Ecosistema Gastronómico Hiperlocal e Información Operativa en Tiempo Real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B037CEAA-4B4C-43AD-E465-BF5B9B1E9C37}"/>
              </a:ext>
            </a:extLst>
          </p:cNvPr>
          <p:cNvSpPr txBox="1">
            <a:spLocks/>
          </p:cNvSpPr>
          <p:nvPr/>
        </p:nvSpPr>
        <p:spPr>
          <a:xfrm>
            <a:off x="301751" y="3614166"/>
            <a:ext cx="3634144" cy="30540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 err="1">
                <a:solidFill>
                  <a:schemeClr val="tx1"/>
                </a:solidFill>
              </a:rPr>
              <a:t>Asignatura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 err="1">
                <a:solidFill>
                  <a:schemeClr val="tx1"/>
                </a:solidFill>
              </a:rPr>
              <a:t>Portafolio</a:t>
            </a:r>
            <a:r>
              <a:rPr lang="en-US" dirty="0">
                <a:solidFill>
                  <a:schemeClr val="tx1"/>
                </a:solidFill>
              </a:rPr>
              <a:t> de </a:t>
            </a:r>
            <a:r>
              <a:rPr lang="en-US" dirty="0" err="1">
                <a:solidFill>
                  <a:schemeClr val="tx1"/>
                </a:solidFill>
              </a:rPr>
              <a:t>Título</a:t>
            </a:r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Carrera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 err="1">
                <a:solidFill>
                  <a:schemeClr val="tx1"/>
                </a:solidFill>
              </a:rPr>
              <a:t>Analista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Programador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Computacional</a:t>
            </a:r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b="1" dirty="0" err="1">
                <a:solidFill>
                  <a:schemeClr val="tx1"/>
                </a:solidFill>
              </a:rPr>
              <a:t>Estudiante</a:t>
            </a:r>
            <a:r>
              <a:rPr lang="en-US" dirty="0">
                <a:solidFill>
                  <a:schemeClr val="tx1"/>
                </a:solidFill>
              </a:rPr>
              <a:t>: Ferdynando Melo</a:t>
            </a:r>
          </a:p>
          <a:p>
            <a:pPr algn="l"/>
            <a:r>
              <a:rPr lang="en-US" b="1" dirty="0" err="1">
                <a:solidFill>
                  <a:schemeClr val="tx1"/>
                </a:solidFill>
              </a:rPr>
              <a:t>Profesor</a:t>
            </a:r>
            <a:r>
              <a:rPr lang="en-US" dirty="0">
                <a:solidFill>
                  <a:schemeClr val="tx1"/>
                </a:solidFill>
              </a:rPr>
              <a:t>: Alberto Fermín Campos Vidal</a:t>
            </a:r>
          </a:p>
          <a:p>
            <a:pPr algn="l"/>
            <a:r>
              <a:rPr lang="en-US" b="1" dirty="0" err="1">
                <a:solidFill>
                  <a:schemeClr val="tx1"/>
                </a:solidFill>
              </a:rPr>
              <a:t>Fecha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 err="1">
                <a:solidFill>
                  <a:schemeClr val="tx1"/>
                </a:solidFill>
              </a:rPr>
              <a:t>Octubre</a:t>
            </a:r>
            <a:r>
              <a:rPr lang="en-US" dirty="0">
                <a:solidFill>
                  <a:schemeClr val="tx1"/>
                </a:solidFill>
              </a:rPr>
              <a:t> 2026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18A1589-00FC-6690-237D-EA095E2B30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878" r="17237" b="1"/>
          <a:stretch>
            <a:fillRect/>
          </a:stretch>
        </p:blipFill>
        <p:spPr>
          <a:xfrm>
            <a:off x="4152900" y="10"/>
            <a:ext cx="8039100" cy="6857990"/>
          </a:xfrm>
          <a:prstGeom prst="rect">
            <a:avLst/>
          </a:prstGeom>
          <a:noFill/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43285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027ABB-97C1-BE9C-89D7-E21CD8350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>
            <a:normAutofit/>
          </a:bodyPr>
          <a:lstStyle/>
          <a:p>
            <a:r>
              <a:rPr lang="es-CL" dirty="0"/>
              <a:t>El Desafío de la Comida Rápida Hiperlocal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152D0FA-2DA5-396D-37CD-EFAE700A515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>
            <a:normAutofit/>
          </a:bodyPr>
          <a:lstStyle/>
          <a:p>
            <a:pPr lvl="0"/>
            <a:r>
              <a:rPr lang="es-CL" sz="1600" b="1" dirty="0"/>
              <a:t>Contexto:</a:t>
            </a:r>
            <a:r>
              <a:rPr lang="es-CL" sz="1600" dirty="0"/>
              <a:t> La digitalización forzada </a:t>
            </a:r>
            <a:r>
              <a:rPr lang="es-CL" sz="1600" dirty="0" err="1"/>
              <a:t>post-pandemia</a:t>
            </a:r>
            <a:r>
              <a:rPr lang="es-CL" sz="1600" dirty="0"/>
              <a:t> impulsó a los locales de barrio hacia internet.</a:t>
            </a:r>
          </a:p>
          <a:p>
            <a:pPr lvl="0"/>
            <a:r>
              <a:rPr lang="es-CL" sz="1600" b="1" dirty="0"/>
              <a:t>El Problema Operativo:</a:t>
            </a:r>
            <a:r>
              <a:rPr lang="es-CL" sz="1600" dirty="0"/>
              <a:t> Gran parte de la oferta gastronómica de barrio y de paso no cuenta con canales digitales actualizados ni unificados.</a:t>
            </a:r>
          </a:p>
          <a:p>
            <a:pPr lvl="0"/>
            <a:r>
              <a:rPr lang="es-CL" sz="1600" b="1" dirty="0"/>
              <a:t>Incertidumbre del Consumidor:</a:t>
            </a:r>
            <a:r>
              <a:rPr lang="es-CL" sz="1600" dirty="0"/>
              <a:t> Desconocimiento de si un local está abierto en un momento específico, precios desactualizados o inexistencia de vitrinas digitales.</a:t>
            </a:r>
          </a:p>
          <a:p>
            <a:pPr lvl="0"/>
            <a:r>
              <a:rPr lang="es-CL" sz="1600" b="1" dirty="0"/>
              <a:t>Foco del Proyecto:</a:t>
            </a:r>
            <a:r>
              <a:rPr lang="es-CL" sz="1600" dirty="0"/>
              <a:t> Demostrar cómo la tecnología móvil y la gestión de datos en tiempo real pueden resolver la brecha operativa de manera directa y soberana para las pymes.</a:t>
            </a:r>
          </a:p>
          <a:p>
            <a:endParaRPr lang="es-CL" dirty="0"/>
          </a:p>
        </p:txBody>
      </p:sp>
      <p:pic>
        <p:nvPicPr>
          <p:cNvPr id="5" name="Picture 4" descr="Casas en una zona residencial">
            <a:extLst>
              <a:ext uri="{FF2B5EF4-FFF2-40B4-BE49-F238E27FC236}">
                <a16:creationId xmlns:a16="http://schemas.microsoft.com/office/drawing/2014/main" id="{FA7A7FF2-F8D1-5CE0-0C1C-8D5BABA5F0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769" r="21731" b="-1"/>
          <a:stretch>
            <a:fillRect/>
          </a:stretch>
        </p:blipFill>
        <p:spPr>
          <a:xfrm>
            <a:off x="7620000" y="10"/>
            <a:ext cx="457200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05939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E306AD-AFDC-FF32-47F6-DB1B1435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>
            <a:normAutofit/>
          </a:bodyPr>
          <a:lstStyle/>
          <a:p>
            <a:r>
              <a:rPr lang="es-CL" dirty="0"/>
              <a:t>Problemáticas e Impactos del Ecosistema Actual</a:t>
            </a:r>
          </a:p>
        </p:txBody>
      </p:sp>
      <p:pic>
        <p:nvPicPr>
          <p:cNvPr id="7" name="Marcador de posición de imagen 6" descr="Letrero de cerrado en una ventana">
            <a:extLst>
              <a:ext uri="{FF2B5EF4-FFF2-40B4-BE49-F238E27FC236}">
                <a16:creationId xmlns:a16="http://schemas.microsoft.com/office/drawing/2014/main" id="{92DA43E5-3CF0-0759-D2EA-6C4555ECECCB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33" r="16233"/>
          <a:stretch>
            <a:fillRect/>
          </a:stretch>
        </p:blipFill>
        <p:spPr>
          <a:xfrm>
            <a:off x="382588" y="3044825"/>
            <a:ext cx="3338512" cy="3297238"/>
          </a:xfrm>
        </p:spPr>
      </p:pic>
      <p:graphicFrame>
        <p:nvGraphicFramePr>
          <p:cNvPr id="6" name="Marcador de contenido 2">
            <a:extLst>
              <a:ext uri="{FF2B5EF4-FFF2-40B4-BE49-F238E27FC236}">
                <a16:creationId xmlns:a16="http://schemas.microsoft.com/office/drawing/2014/main" id="{CF094758-EA70-B020-F405-72896D860F0C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612819516"/>
              </p:ext>
            </p:extLst>
          </p:nvPr>
        </p:nvGraphicFramePr>
        <p:xfrm>
          <a:off x="4478968" y="1019810"/>
          <a:ext cx="7315200" cy="5577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16536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3294D9-5398-E11A-0CE2-2BC552ADB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>
            <a:normAutofit/>
          </a:bodyPr>
          <a:lstStyle/>
          <a:p>
            <a:r>
              <a:rPr lang="es-CL" dirty="0" err="1"/>
              <a:t>FastTrack</a:t>
            </a:r>
            <a:r>
              <a:rPr lang="es-CL" dirty="0"/>
              <a:t>: La Solución Georreferenciada en Tiempo Real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7E57767-16D0-C2B7-BAAE-C757B17BDA9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>
            <a:normAutofit/>
          </a:bodyPr>
          <a:lstStyle/>
          <a:p>
            <a:pPr lvl="0"/>
            <a:r>
              <a:rPr lang="es-CL" sz="1600" b="1" dirty="0"/>
              <a:t>El Concepto:</a:t>
            </a:r>
            <a:r>
              <a:rPr lang="es-CL" sz="1600" dirty="0"/>
              <a:t> Una plataforma multiplataforma (híbrida) que entrega certezas de funcionamiento inmediato al cliente.</a:t>
            </a:r>
          </a:p>
          <a:p>
            <a:pPr lvl="0"/>
            <a:r>
              <a:rPr lang="es-CL" sz="1600" b="1" dirty="0"/>
              <a:t>Propuesta de Valor:</a:t>
            </a:r>
            <a:endParaRPr lang="es-CL" sz="1600" dirty="0"/>
          </a:p>
          <a:p>
            <a:pPr lvl="1"/>
            <a:r>
              <a:rPr lang="es-CL" sz="1600" dirty="0"/>
              <a:t>Información confiable de disponibilidad en vivo.</a:t>
            </a:r>
          </a:p>
          <a:p>
            <a:pPr lvl="1"/>
            <a:r>
              <a:rPr lang="es-CL" sz="1600" dirty="0"/>
              <a:t>Soberanía digital para el microempresario (libre de comisiones).</a:t>
            </a:r>
          </a:p>
          <a:p>
            <a:pPr lvl="1"/>
            <a:r>
              <a:rPr lang="es-CL" sz="1600" dirty="0"/>
              <a:t>Mapeo exacto y visual de la oferta a nivel hiperlocal.</a:t>
            </a:r>
          </a:p>
          <a:p>
            <a:pPr lvl="1"/>
            <a:r>
              <a:rPr lang="es-CL" sz="1600" dirty="0"/>
              <a:t>Gamificación transaccional basada en la fidelización de la comunidad.</a:t>
            </a:r>
          </a:p>
          <a:p>
            <a:pPr lvl="0"/>
            <a:r>
              <a:rPr lang="es-CL" sz="1600" b="1" dirty="0"/>
              <a:t>Objetivo de Impacto:</a:t>
            </a:r>
            <a:r>
              <a:rPr lang="es-CL" sz="1600" dirty="0"/>
              <a:t> Conectar la oferta y la demanda al minuto exacto, sin fricciones de traslado ni sobrecostos.</a:t>
            </a:r>
          </a:p>
          <a:p>
            <a:endParaRPr lang="es-CL" dirty="0"/>
          </a:p>
        </p:txBody>
      </p:sp>
      <p:pic>
        <p:nvPicPr>
          <p:cNvPr id="6" name="Picture 5" descr="Dispositivo móvil con aplicaciones">
            <a:extLst>
              <a:ext uri="{FF2B5EF4-FFF2-40B4-BE49-F238E27FC236}">
                <a16:creationId xmlns:a16="http://schemas.microsoft.com/office/drawing/2014/main" id="{A7675FB1-6CA2-5C5A-3548-9DA9939D8D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035" r="11465"/>
          <a:stretch>
            <a:fillRect/>
          </a:stretch>
        </p:blipFill>
        <p:spPr>
          <a:xfrm>
            <a:off x="7620000" y="10"/>
            <a:ext cx="457200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7539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7D155A-4CC2-8F7C-1E45-ED95FC812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err="1"/>
              <a:t>Product</a:t>
            </a:r>
            <a:r>
              <a:rPr lang="es-CL" dirty="0"/>
              <a:t> </a:t>
            </a:r>
            <a:r>
              <a:rPr lang="es-CL" dirty="0" err="1"/>
              <a:t>Goal</a:t>
            </a:r>
            <a:r>
              <a:rPr lang="es-CL" dirty="0"/>
              <a:t>: El Norte de </a:t>
            </a:r>
            <a:r>
              <a:rPr lang="es-CL" dirty="0" err="1"/>
              <a:t>FastTrack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9C7107-CFC7-DC32-0BB5-293CF286AFDF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s-CL" sz="1600" b="1" dirty="0"/>
              <a:t>Declaración:</a:t>
            </a:r>
            <a:r>
              <a:rPr lang="es-CL" sz="1600" dirty="0"/>
              <a:t> Construir, validar y desplegar una plataforma informática multiplataforma (Web y Móvil) totalmente funcional para el ecosistema de comida rápida al paso.</a:t>
            </a:r>
          </a:p>
          <a:p>
            <a:pPr lvl="0"/>
            <a:r>
              <a:rPr lang="es-CL" sz="1600" b="1" dirty="0"/>
              <a:t>Características Clave:</a:t>
            </a:r>
            <a:endParaRPr lang="es-CL" sz="1600" dirty="0"/>
          </a:p>
          <a:p>
            <a:pPr lvl="1"/>
            <a:r>
              <a:rPr lang="es-CL" sz="1600" b="1" dirty="0"/>
              <a:t>Estado de Atención Comprobado:</a:t>
            </a:r>
            <a:r>
              <a:rPr lang="es-CL" sz="1600" dirty="0"/>
              <a:t> "Live Status" en tiempo real controlado por la cocina.</a:t>
            </a:r>
          </a:p>
          <a:p>
            <a:pPr lvl="1"/>
            <a:r>
              <a:rPr lang="es-CL" sz="1600" b="1" dirty="0"/>
              <a:t>Información Sincronizada:</a:t>
            </a:r>
            <a:r>
              <a:rPr lang="es-CL" sz="1600" dirty="0"/>
              <a:t> Visualización de menús, precios y cartas dinámicas actualizadas sin demoras.</a:t>
            </a:r>
          </a:p>
          <a:p>
            <a:pPr lvl="1"/>
            <a:r>
              <a:rPr lang="es-CL" sz="1600" b="1" dirty="0"/>
              <a:t>Fidelización Transaccional:</a:t>
            </a:r>
            <a:r>
              <a:rPr lang="es-CL" sz="1600" dirty="0"/>
              <a:t> Motor que recompensa reseñas verificadas con puntos acumulables canjeables por cupones.</a:t>
            </a:r>
          </a:p>
          <a:p>
            <a:pPr lvl="0"/>
            <a:r>
              <a:rPr lang="es-CL" sz="1600" b="1" dirty="0"/>
              <a:t>Enfoque de Ingeniería:</a:t>
            </a:r>
            <a:r>
              <a:rPr lang="es-CL" sz="1600" dirty="0"/>
              <a:t> Asegurar una experiencia de usuario intuitiva, persistencia íntegra (SQLite offline-</a:t>
            </a:r>
            <a:r>
              <a:rPr lang="es-CL" sz="1600" dirty="0" err="1"/>
              <a:t>first</a:t>
            </a:r>
            <a:r>
              <a:rPr lang="es-CL" sz="1600" dirty="0"/>
              <a:t>) y altos estándares de calidad de software.</a:t>
            </a:r>
          </a:p>
        </p:txBody>
      </p:sp>
      <p:pic>
        <p:nvPicPr>
          <p:cNvPr id="6" name="Marcador de posición de imagen 5" descr="Persona escaneando la tarjeta de débito con el teléfono">
            <a:extLst>
              <a:ext uri="{FF2B5EF4-FFF2-40B4-BE49-F238E27FC236}">
                <a16:creationId xmlns:a16="http://schemas.microsoft.com/office/drawing/2014/main" id="{157EDD85-8FB9-3162-0DA0-7813BCF0F73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8" r="2777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533103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413870-B793-3DD6-F499-193FF4766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 anchor="b">
            <a:normAutofit/>
          </a:bodyPr>
          <a:lstStyle/>
          <a:p>
            <a:r>
              <a:rPr lang="es-CL" dirty="0"/>
              <a:t>Pilares Estratégicos del Proyecto</a:t>
            </a:r>
          </a:p>
        </p:txBody>
      </p:sp>
      <p:pic>
        <p:nvPicPr>
          <p:cNvPr id="10" name="Marcador de posición de imagen 9" descr="primer plano del dedo de un hombre sobre gráficos del mercado de cotizaciones">
            <a:extLst>
              <a:ext uri="{FF2B5EF4-FFF2-40B4-BE49-F238E27FC236}">
                <a16:creationId xmlns:a16="http://schemas.microsoft.com/office/drawing/2014/main" id="{466BE7B5-41B6-FF93-7F9E-8D1C8A6B69B9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301625" y="2375658"/>
            <a:ext cx="5165725" cy="3448121"/>
          </a:xfrm>
          <a:noFill/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48F668-975E-9EFB-BA41-FF53DAF85D0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675243" y="1806575"/>
            <a:ext cx="6039748" cy="4586288"/>
          </a:xfrm>
        </p:spPr>
        <p:txBody>
          <a:bodyPr>
            <a:normAutofit/>
          </a:bodyPr>
          <a:lstStyle/>
          <a:p>
            <a:pPr lvl="0"/>
            <a:r>
              <a:rPr lang="es-CL" sz="1600" b="1" dirty="0"/>
              <a:t>Visión:</a:t>
            </a:r>
            <a:r>
              <a:rPr lang="es-CL" sz="1600" dirty="0"/>
              <a:t> Ser el ecosistema digital hiperlocal líder en el rubro gastronómico al paso en Chile, transformando la experiencia de consumo mediante información operativa en tiempo real</a:t>
            </a:r>
          </a:p>
          <a:p>
            <a:pPr lvl="0"/>
            <a:r>
              <a:rPr lang="es-CL" sz="1600" b="1" dirty="0"/>
              <a:t>Los Cuatro Pilares:</a:t>
            </a:r>
            <a:endParaRPr lang="es-CL" sz="1600" dirty="0"/>
          </a:p>
          <a:p>
            <a:pPr lvl="1"/>
            <a:r>
              <a:rPr lang="es-CL" sz="1600" i="1" dirty="0"/>
              <a:t>Pilar 1: Grupo Objetivo:</a:t>
            </a:r>
            <a:r>
              <a:rPr lang="es-CL" sz="1600" dirty="0"/>
              <a:t> Consumidores urbanos de paso y microempresarios gastronómicos de barrio.</a:t>
            </a:r>
          </a:p>
          <a:p>
            <a:pPr lvl="1"/>
            <a:r>
              <a:rPr lang="es-CL" sz="1600" i="1" dirty="0"/>
              <a:t>Pilar 2: Necesidades:</a:t>
            </a:r>
            <a:r>
              <a:rPr lang="es-CL" sz="1600" dirty="0"/>
              <a:t> Eliminar la incertidumbre de atención, desactualización de precios y dependencia de comisiones abusivas.</a:t>
            </a:r>
          </a:p>
          <a:p>
            <a:pPr lvl="1"/>
            <a:r>
              <a:rPr lang="es-CL" sz="1600" i="1" dirty="0"/>
              <a:t>Pilar 3: Producto/Servicio:</a:t>
            </a:r>
            <a:r>
              <a:rPr lang="es-CL" sz="1600" dirty="0"/>
              <a:t> Aplicación interactiva (</a:t>
            </a:r>
            <a:r>
              <a:rPr lang="es-CL" sz="1600" dirty="0" err="1"/>
              <a:t>Ionic</a:t>
            </a:r>
            <a:r>
              <a:rPr lang="es-CL" sz="1600" dirty="0"/>
              <a:t>/Angular) con mapa interactivo en vivo, catálogo CRUD e interruptor Live Status.</a:t>
            </a:r>
          </a:p>
          <a:p>
            <a:pPr lvl="1"/>
            <a:r>
              <a:rPr lang="es-CL" sz="1600" i="1" dirty="0"/>
              <a:t>Pilar 4: Valor Aportado:</a:t>
            </a:r>
            <a:r>
              <a:rPr lang="es-CL" sz="1600" dirty="0"/>
              <a:t> Certeza horaria al minuto, fidelización con descuentos reales y digitalización directa sin barreras.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22987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A398C6-A178-0B2E-FD0A-3F378E89F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/>
          <a:p>
            <a:r>
              <a:rPr lang="es-CL" dirty="0"/>
              <a:t>Actores Clave del Proyecto</a:t>
            </a:r>
          </a:p>
        </p:txBody>
      </p:sp>
      <p:graphicFrame>
        <p:nvGraphicFramePr>
          <p:cNvPr id="6" name="Marcador de contenido 3">
            <a:extLst>
              <a:ext uri="{FF2B5EF4-FFF2-40B4-BE49-F238E27FC236}">
                <a16:creationId xmlns:a16="http://schemas.microsoft.com/office/drawing/2014/main" id="{BDC2014D-5E80-12FD-FFEB-AB70849B915D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831985475"/>
              </p:ext>
            </p:extLst>
          </p:nvPr>
        </p:nvGraphicFramePr>
        <p:xfrm>
          <a:off x="301752" y="2011680"/>
          <a:ext cx="11402568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9252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4B997F-1D01-0BFB-949F-E4A42AFCA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>
            <a:normAutofit/>
          </a:bodyPr>
          <a:lstStyle/>
          <a:p>
            <a:r>
              <a:rPr lang="es-CL" sz="3200" dirty="0"/>
              <a:t>Marco de Trabajo Ágil y Planificación de </a:t>
            </a:r>
            <a:r>
              <a:rPr lang="es-CL" sz="3200" dirty="0" err="1"/>
              <a:t>Sprints</a:t>
            </a:r>
            <a:endParaRPr lang="es-CL" sz="3200" dirty="0"/>
          </a:p>
        </p:txBody>
      </p:sp>
      <p:pic>
        <p:nvPicPr>
          <p:cNvPr id="13" name="Marcador de posición de imagen 12" descr="Ilustración de líneas y puntos de conexión">
            <a:extLst>
              <a:ext uri="{FF2B5EF4-FFF2-40B4-BE49-F238E27FC236}">
                <a16:creationId xmlns:a16="http://schemas.microsoft.com/office/drawing/2014/main" id="{CF224C5E-80B5-497D-AB1F-1B0C9DB79ABF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369" b="36369"/>
          <a:stretch>
            <a:fillRect/>
          </a:stretch>
        </p:blipFill>
        <p:spPr>
          <a:xfrm>
            <a:off x="-17463" y="0"/>
            <a:ext cx="12209463" cy="1997075"/>
          </a:xfrm>
        </p:spPr>
      </p:pic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CAF3F520-CB49-2D39-3807-F5759E3C490A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98158915"/>
              </p:ext>
            </p:extLst>
          </p:nvPr>
        </p:nvGraphicFramePr>
        <p:xfrm>
          <a:off x="4132690" y="2099146"/>
          <a:ext cx="7200900" cy="292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17525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B0A8C6-3263-8012-1AE3-BB6AC3E10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234" y="1075359"/>
            <a:ext cx="10442448" cy="1856553"/>
          </a:xfrm>
        </p:spPr>
        <p:txBody>
          <a:bodyPr>
            <a:normAutofit/>
          </a:bodyPr>
          <a:lstStyle/>
          <a:p>
            <a:r>
              <a:rPr lang="es-CL" dirty="0"/>
              <a:t>Alineación Estratégica: ¿Por qué?, ¿Quién?, ¿Cómo?, ¿Qué?</a:t>
            </a:r>
          </a:p>
        </p:txBody>
      </p:sp>
      <p:pic>
        <p:nvPicPr>
          <p:cNvPr id="7" name="Marcador de posición de imagen 6" descr="Red con chinchetas">
            <a:extLst>
              <a:ext uri="{FF2B5EF4-FFF2-40B4-BE49-F238E27FC236}">
                <a16:creationId xmlns:a16="http://schemas.microsoft.com/office/drawing/2014/main" id="{957BD019-A74C-A7C2-0F4D-3452089C6BD2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55" r="25455"/>
          <a:stretch>
            <a:fillRect/>
          </a:stretch>
        </p:blipFill>
        <p:spPr>
          <a:xfrm>
            <a:off x="382588" y="1819275"/>
            <a:ext cx="3338512" cy="4522788"/>
          </a:xfrm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3FECF9-7AC3-6153-FEB9-C8AFB00DEC3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818861"/>
            <a:ext cx="7330642" cy="4778789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s-CL" sz="2400" b="1" dirty="0"/>
              <a:t>Meta Principal:</a:t>
            </a:r>
            <a:r>
              <a:rPr lang="es-CL" sz="2400" dirty="0"/>
              <a:t> Eliminar la incertidumbre de atención y los traslados frustrados mediante información en tiempo real al minuto exacto.</a:t>
            </a:r>
          </a:p>
          <a:p>
            <a:pPr lvl="0"/>
            <a:r>
              <a:rPr lang="es-CL" sz="2400" b="1" dirty="0"/>
              <a:t>Impacto en Comensales:</a:t>
            </a:r>
            <a:endParaRPr lang="es-CL" sz="2400" dirty="0"/>
          </a:p>
          <a:p>
            <a:pPr lvl="1"/>
            <a:r>
              <a:rPr lang="es-CL" sz="2400" i="1" dirty="0"/>
              <a:t>Saber si atienden:</a:t>
            </a:r>
            <a:r>
              <a:rPr lang="es-CL" sz="2400" dirty="0"/>
              <a:t> Mapa GPS con marcadores en vivo.</a:t>
            </a:r>
          </a:p>
          <a:p>
            <a:pPr lvl="1"/>
            <a:r>
              <a:rPr lang="es-CL" sz="2400" i="1" dirty="0"/>
              <a:t>Conocer precios:</a:t>
            </a:r>
            <a:r>
              <a:rPr lang="es-CL" sz="2400" dirty="0"/>
              <a:t> Carta digital actualizada.</a:t>
            </a:r>
          </a:p>
          <a:p>
            <a:pPr lvl="1"/>
            <a:r>
              <a:rPr lang="es-CL" sz="2400" i="1" dirty="0"/>
              <a:t>Ganar incentivos:</a:t>
            </a:r>
            <a:r>
              <a:rPr lang="es-CL" sz="2400" dirty="0"/>
              <a:t> Reseñas y acumulación de puntos.</a:t>
            </a:r>
          </a:p>
          <a:p>
            <a:pPr lvl="0"/>
            <a:r>
              <a:rPr lang="es-CL" sz="2400" b="1" dirty="0"/>
              <a:t>Impacto en Locatarios:</a:t>
            </a:r>
            <a:endParaRPr lang="es-CL" sz="2400" dirty="0"/>
          </a:p>
          <a:p>
            <a:pPr lvl="1"/>
            <a:r>
              <a:rPr lang="es-CL" sz="2400" i="1" dirty="0"/>
              <a:t>Avisar disponibilidad:</a:t>
            </a:r>
            <a:r>
              <a:rPr lang="es-CL" sz="2400" dirty="0"/>
              <a:t> Interruptor Live Status.</a:t>
            </a:r>
          </a:p>
          <a:p>
            <a:pPr lvl="1"/>
            <a:r>
              <a:rPr lang="es-CL" sz="2400" i="1" dirty="0"/>
              <a:t>Gestionar el menú:</a:t>
            </a:r>
            <a:r>
              <a:rPr lang="es-CL" sz="2400" dirty="0"/>
              <a:t> CRUD de carta dinámica y stock.</a:t>
            </a:r>
          </a:p>
          <a:p>
            <a:pPr lvl="1"/>
            <a:r>
              <a:rPr lang="es-CL" sz="2400" i="1" dirty="0"/>
              <a:t>Fidelizar:</a:t>
            </a:r>
            <a:r>
              <a:rPr lang="es-CL" sz="2400" dirty="0"/>
              <a:t> Validador de cupones y </a:t>
            </a:r>
            <a:r>
              <a:rPr lang="es-CL" sz="2400" dirty="0" err="1"/>
              <a:t>dashboard</a:t>
            </a:r>
            <a:r>
              <a:rPr lang="es-CL" sz="2400" dirty="0"/>
              <a:t> analítico.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38615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794B0B-834B-477E-0AC6-E62397410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46820"/>
            <a:ext cx="6751127" cy="1250871"/>
          </a:xfrm>
        </p:spPr>
        <p:txBody>
          <a:bodyPr anchor="b">
            <a:normAutofit/>
          </a:bodyPr>
          <a:lstStyle/>
          <a:p>
            <a:r>
              <a:rPr lang="es-CL" dirty="0"/>
              <a:t>Sprint 1: Cimientos y Gestión Operativa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E917CD7-6B49-C60B-3A23-ED25BE52F63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1729409"/>
            <a:ext cx="6755514" cy="4488511"/>
          </a:xfrm>
        </p:spPr>
        <p:txBody>
          <a:bodyPr>
            <a:normAutofit/>
          </a:bodyPr>
          <a:lstStyle/>
          <a:p>
            <a:pPr lvl="0"/>
            <a:r>
              <a:rPr lang="es-CL" sz="1600" b="1" dirty="0"/>
              <a:t>Objetivo:</a:t>
            </a:r>
            <a:r>
              <a:rPr lang="es-CL" sz="1600" dirty="0"/>
              <a:t> Implementar la base de datos, el control de acceso y las herramientas de gestión del local y de su carta.</a:t>
            </a:r>
          </a:p>
          <a:p>
            <a:pPr lvl="0"/>
            <a:r>
              <a:rPr lang="es-CL" sz="1600" b="1" dirty="0"/>
              <a:t>Esfuerzo Ejecutado:</a:t>
            </a:r>
            <a:r>
              <a:rPr lang="es-CL" sz="1600" dirty="0"/>
              <a:t> 140 Story Points (100% completado).</a:t>
            </a:r>
          </a:p>
          <a:p>
            <a:pPr lvl="0"/>
            <a:r>
              <a:rPr lang="es-CL" sz="1600" b="1" dirty="0"/>
              <a:t>Entregables Clave:</a:t>
            </a:r>
            <a:endParaRPr lang="es-CL" sz="1600" dirty="0"/>
          </a:p>
          <a:p>
            <a:pPr lvl="1"/>
            <a:r>
              <a:rPr lang="es-CL" sz="1600" dirty="0"/>
              <a:t>Registro e inicio de sesión seguros (Cifrado </a:t>
            </a:r>
            <a:r>
              <a:rPr lang="es-CL" sz="1600" dirty="0" err="1"/>
              <a:t>BCrypt</a:t>
            </a:r>
            <a:r>
              <a:rPr lang="es-CL" sz="1600" dirty="0"/>
              <a:t> y tokens JWT con Route </a:t>
            </a:r>
            <a:r>
              <a:rPr lang="es-CL" sz="1600" dirty="0" err="1"/>
              <a:t>Guards</a:t>
            </a:r>
            <a:r>
              <a:rPr lang="es-CL" sz="1600" dirty="0"/>
              <a:t>).</a:t>
            </a:r>
          </a:p>
          <a:p>
            <a:pPr lvl="1"/>
            <a:r>
              <a:rPr lang="es-CL" sz="1600" dirty="0"/>
              <a:t>Módulo de creación y actualización del local (con coordenadas exactas de georreferenciación).</a:t>
            </a:r>
          </a:p>
          <a:p>
            <a:pPr lvl="1"/>
            <a:r>
              <a:rPr lang="es-CL" sz="1600" dirty="0"/>
              <a:t>CRUD del catálogo de productos con control de disponibilidad de stock por categoría.</a:t>
            </a:r>
          </a:p>
          <a:p>
            <a:pPr lvl="0"/>
            <a:r>
              <a:rPr lang="es-CL" sz="1600" b="1" dirty="0"/>
              <a:t>Integración Técnica:</a:t>
            </a:r>
            <a:r>
              <a:rPr lang="es-CL" sz="1600" dirty="0"/>
              <a:t> Persistencia local mediante SQLite con </a:t>
            </a:r>
            <a:r>
              <a:rPr lang="es-CL" sz="1600" dirty="0" err="1"/>
              <a:t>fallback</a:t>
            </a:r>
            <a:r>
              <a:rPr lang="es-CL" sz="1600" dirty="0"/>
              <a:t> automático en </a:t>
            </a:r>
            <a:r>
              <a:rPr lang="es-CL" sz="1600" dirty="0" err="1"/>
              <a:t>Ionic</a:t>
            </a:r>
            <a:r>
              <a:rPr lang="es-CL" sz="1600" dirty="0"/>
              <a:t> Storage (</a:t>
            </a:r>
            <a:r>
              <a:rPr lang="es-CL" sz="1600" dirty="0" err="1"/>
              <a:t>IndexedDB</a:t>
            </a:r>
            <a:r>
              <a:rPr lang="es-CL" sz="1600" dirty="0"/>
              <a:t>) para consistencia offline y en navegadores.</a:t>
            </a:r>
          </a:p>
          <a:p>
            <a:endParaRPr lang="es-CL" dirty="0"/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EE45BD50-C32A-6D73-911E-F62C8299CA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16" r="52683" b="-1"/>
          <a:stretch>
            <a:fillRect/>
          </a:stretch>
        </p:blipFill>
        <p:spPr>
          <a:xfrm>
            <a:off x="7620000" y="10"/>
            <a:ext cx="457200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45902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posición de imagen 5" descr="Reloj analógico">
            <a:extLst>
              <a:ext uri="{FF2B5EF4-FFF2-40B4-BE49-F238E27FC236}">
                <a16:creationId xmlns:a16="http://schemas.microsoft.com/office/drawing/2014/main" id="{D8CF62CA-992F-DB36-FCAE-CF3D68FA912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0"/>
          <a:stretch>
            <a:fillRect/>
          </a:stretch>
        </p:blipFill>
        <p:spPr>
          <a:xfrm>
            <a:off x="6788" y="-1"/>
            <a:ext cx="12192001" cy="6858000"/>
          </a:xfrm>
          <a:noFill/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CB4CAB3-C51C-05F5-E087-E63D087A0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2739821"/>
          </a:xfrm>
        </p:spPr>
        <p:txBody>
          <a:bodyPr anchor="t">
            <a:normAutofit fontScale="90000"/>
          </a:bodyPr>
          <a:lstStyle/>
          <a:p>
            <a:r>
              <a:rPr lang="es-CL" dirty="0"/>
              <a:t>Sprint 2: Tiempo Real y Motor de Fidelización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68E539-F14D-84CD-A3FD-837C1D32C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2739820"/>
            <a:ext cx="7724775" cy="4456112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b">
            <a:normAutofit fontScale="77500" lnSpcReduction="20000"/>
          </a:bodyPr>
          <a:lstStyle/>
          <a:p>
            <a:pPr lvl="0">
              <a:lnSpc>
                <a:spcPct val="110000"/>
              </a:lnSpc>
            </a:pPr>
            <a:r>
              <a:rPr lang="es-CL" sz="1900" b="1" dirty="0"/>
              <a:t>Objetivo:</a:t>
            </a:r>
            <a:r>
              <a:rPr lang="es-CL" sz="1900" dirty="0"/>
              <a:t> Desarrollar los pilares interactivos, la georreferenciación, el motor de puntos y la validación en caja.</a:t>
            </a:r>
          </a:p>
          <a:p>
            <a:pPr lvl="0">
              <a:lnSpc>
                <a:spcPct val="110000"/>
              </a:lnSpc>
            </a:pPr>
            <a:r>
              <a:rPr lang="es-CL" sz="1900" b="1" dirty="0"/>
              <a:t>Esfuerzo Ejecutado:</a:t>
            </a:r>
            <a:r>
              <a:rPr lang="es-CL" sz="1900" dirty="0"/>
              <a:t> 280 Story Points (100% completado).</a:t>
            </a:r>
          </a:p>
          <a:p>
            <a:pPr lvl="0">
              <a:lnSpc>
                <a:spcPct val="110000"/>
              </a:lnSpc>
            </a:pPr>
            <a:r>
              <a:rPr lang="es-CL" sz="1900" b="1" dirty="0"/>
              <a:t>Entregables Clave:</a:t>
            </a:r>
            <a:endParaRPr lang="es-CL" sz="1900" dirty="0"/>
          </a:p>
          <a:p>
            <a:pPr lvl="1">
              <a:lnSpc>
                <a:spcPct val="110000"/>
              </a:lnSpc>
            </a:pPr>
            <a:r>
              <a:rPr lang="es-CL" sz="1900" dirty="0"/>
              <a:t>Interruptor Live Status que actualiza en tiempo real el estado en base de datos.</a:t>
            </a:r>
          </a:p>
          <a:p>
            <a:pPr lvl="1">
              <a:lnSpc>
                <a:spcPct val="110000"/>
              </a:lnSpc>
            </a:pPr>
            <a:r>
              <a:rPr lang="es-CL" sz="1900" dirty="0"/>
              <a:t>Mapa interactivo georreferenciado con </a:t>
            </a:r>
            <a:r>
              <a:rPr lang="es-CL" sz="1900" dirty="0" err="1"/>
              <a:t>Leaflet</a:t>
            </a:r>
            <a:r>
              <a:rPr lang="es-CL" sz="1900" dirty="0"/>
              <a:t> API (centrado GPS, pines dinámicos verde/gris y listado inferior).</a:t>
            </a:r>
          </a:p>
          <a:p>
            <a:pPr lvl="1">
              <a:lnSpc>
                <a:spcPct val="110000"/>
              </a:lnSpc>
            </a:pPr>
            <a:r>
              <a:rPr lang="es-CL" sz="1900" dirty="0"/>
              <a:t>Módulo de calificación por estrellas y reseñas con recálculo automático de promedio.</a:t>
            </a:r>
          </a:p>
          <a:p>
            <a:pPr lvl="1">
              <a:lnSpc>
                <a:spcPct val="110000"/>
              </a:lnSpc>
            </a:pPr>
            <a:r>
              <a:rPr lang="es-CL" sz="1900" dirty="0"/>
              <a:t>Motor de canje transaccional de puntos por cupones (con código único y estado EMITIDO).</a:t>
            </a:r>
          </a:p>
          <a:p>
            <a:pPr lvl="1">
              <a:lnSpc>
                <a:spcPct val="110000"/>
              </a:lnSpc>
            </a:pPr>
            <a:r>
              <a:rPr lang="es-CL" sz="1900" dirty="0"/>
              <a:t>Validación presencial de cupones en panel de locatario y panel de reportes analíticos.</a:t>
            </a:r>
          </a:p>
          <a:p>
            <a:pPr>
              <a:lnSpc>
                <a:spcPct val="110000"/>
              </a:lnSpc>
            </a:pPr>
            <a:endParaRPr lang="es-CL" sz="1200" dirty="0"/>
          </a:p>
        </p:txBody>
      </p:sp>
    </p:spTree>
    <p:extLst>
      <p:ext uri="{BB962C8B-B14F-4D97-AF65-F5344CB8AC3E}">
        <p14:creationId xmlns:p14="http://schemas.microsoft.com/office/powerpoint/2010/main" val="305695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B2A352-A8BF-B1AB-AA83-05C5656A3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>
            <a:normAutofit/>
          </a:bodyPr>
          <a:lstStyle/>
          <a:p>
            <a:r>
              <a:rPr lang="es-CL" dirty="0"/>
              <a:t>Arquitectura de Software e Infraestructura Tecnológica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696A1E-9591-5B58-E7C0-8F8C5D45249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>
            <a:normAutofit/>
          </a:bodyPr>
          <a:lstStyle/>
          <a:p>
            <a:pPr lvl="0"/>
            <a:r>
              <a:rPr lang="es-CL" b="1"/>
              <a:t>Estrategia:</a:t>
            </a:r>
            <a:r>
              <a:rPr lang="es-CL"/>
              <a:t> Desarrollo Multiplataforma Híbrido (</a:t>
            </a:r>
            <a:r>
              <a:rPr lang="es-CL" err="1"/>
              <a:t>Ionic</a:t>
            </a:r>
            <a:r>
              <a:rPr lang="es-CL"/>
              <a:t>/Angular) con arquitectura modular.</a:t>
            </a:r>
          </a:p>
          <a:p>
            <a:pPr lvl="0"/>
            <a:r>
              <a:rPr lang="es-CL" b="1"/>
              <a:t>Capa de Presentación (</a:t>
            </a:r>
            <a:r>
              <a:rPr lang="es-CL" b="1" err="1"/>
              <a:t>Frontend</a:t>
            </a:r>
            <a:r>
              <a:rPr lang="es-CL" b="1"/>
              <a:t>):</a:t>
            </a:r>
            <a:r>
              <a:rPr lang="es-CL"/>
              <a:t> TypeScript, HTML5, CSS3/Sass. Diseño adaptativo e interactivo con componentes </a:t>
            </a:r>
            <a:r>
              <a:rPr lang="es-CL" err="1"/>
              <a:t>Ionic</a:t>
            </a:r>
            <a:r>
              <a:rPr lang="es-CL"/>
              <a:t>.</a:t>
            </a:r>
          </a:p>
          <a:p>
            <a:pPr lvl="0"/>
            <a:r>
              <a:rPr lang="es-CL" b="1"/>
              <a:t>Capa de Negocio y Lógica:</a:t>
            </a:r>
            <a:r>
              <a:rPr lang="es-CL"/>
              <a:t> Angular </a:t>
            </a:r>
            <a:r>
              <a:rPr lang="es-CL" err="1"/>
              <a:t>Services</a:t>
            </a:r>
            <a:r>
              <a:rPr lang="es-CL"/>
              <a:t>, </a:t>
            </a:r>
            <a:r>
              <a:rPr lang="es-CL" err="1"/>
              <a:t>RxJS</a:t>
            </a:r>
            <a:r>
              <a:rPr lang="es-CL"/>
              <a:t> para manejo reactivo y suscripción a eventos en tiempo real.</a:t>
            </a:r>
          </a:p>
          <a:p>
            <a:pPr lvl="0"/>
            <a:r>
              <a:rPr lang="es-CL" b="1"/>
              <a:t>Capa de Persistencia (Base de Datos):</a:t>
            </a:r>
            <a:r>
              <a:rPr lang="es-CL"/>
              <a:t> SQLite para almacenamiento local relacional (normalización 3FN), asegurando disponibilidad offline.</a:t>
            </a:r>
          </a:p>
          <a:p>
            <a:pPr lvl="0"/>
            <a:r>
              <a:rPr lang="es-CL" b="1"/>
              <a:t>Lógica en DB:</a:t>
            </a:r>
            <a:r>
              <a:rPr lang="es-CL"/>
              <a:t> </a:t>
            </a:r>
            <a:r>
              <a:rPr lang="es-CL" err="1"/>
              <a:t>Triggers</a:t>
            </a:r>
            <a:r>
              <a:rPr lang="es-CL"/>
              <a:t> para recálculo de promedio y bonificación de puntos; </a:t>
            </a:r>
            <a:r>
              <a:rPr lang="es-CL" err="1"/>
              <a:t>Stored</a:t>
            </a:r>
            <a:r>
              <a:rPr lang="es-CL"/>
              <a:t> </a:t>
            </a:r>
            <a:r>
              <a:rPr lang="es-CL" err="1"/>
              <a:t>Procedures</a:t>
            </a:r>
            <a:r>
              <a:rPr lang="es-CL"/>
              <a:t> para transacciones de canje seguras.</a:t>
            </a:r>
          </a:p>
          <a:p>
            <a:pPr lvl="0"/>
            <a:r>
              <a:rPr lang="es-CL" b="1"/>
              <a:t>Integración:</a:t>
            </a:r>
            <a:r>
              <a:rPr lang="es-CL"/>
              <a:t> </a:t>
            </a:r>
            <a:r>
              <a:rPr lang="es-CL" err="1"/>
              <a:t>Leaflet</a:t>
            </a:r>
            <a:r>
              <a:rPr lang="es-CL"/>
              <a:t> API y </a:t>
            </a:r>
            <a:r>
              <a:rPr lang="es-CL" err="1"/>
              <a:t>OpenStreetMap</a:t>
            </a:r>
            <a:r>
              <a:rPr lang="es-CL"/>
              <a:t> para visualización geográfica libre de licencias de pago.</a:t>
            </a:r>
          </a:p>
          <a:p>
            <a:endParaRPr lang="es-C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A8A245-BDE3-C439-D600-F06C9CF0A4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85" r="47815"/>
          <a:stretch>
            <a:fillRect/>
          </a:stretch>
        </p:blipFill>
        <p:spPr>
          <a:xfrm>
            <a:off x="7620000" y="10"/>
            <a:ext cx="457200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64295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5C405A-284C-D9B6-25BF-42F48417E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>
            <a:normAutofit/>
          </a:bodyPr>
          <a:lstStyle/>
          <a:p>
            <a:r>
              <a:rPr lang="es-CL" dirty="0"/>
              <a:t>Modelo de Datos Relacional (DDL)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5592A4-7582-E4BF-2C2F-4F80CCD316E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>
            <a:normAutofit/>
          </a:bodyPr>
          <a:lstStyle/>
          <a:p>
            <a:pPr lvl="0"/>
            <a:r>
              <a:rPr lang="es-CL" b="1" dirty="0"/>
              <a:t>Diseño Normalizado (3FN):</a:t>
            </a:r>
            <a:r>
              <a:rPr lang="es-CL" dirty="0"/>
              <a:t> Garantiza que no exista redundancia y se resguarde la consistencia de los datos en transacciones locales.</a:t>
            </a:r>
          </a:p>
          <a:p>
            <a:pPr lvl="0"/>
            <a:r>
              <a:rPr lang="es-CL" b="1" dirty="0"/>
              <a:t>Entidades Clave:</a:t>
            </a:r>
            <a:endParaRPr lang="es-CL" dirty="0"/>
          </a:p>
          <a:p>
            <a:pPr lvl="1"/>
            <a:r>
              <a:rPr lang="es-CL" dirty="0"/>
              <a:t>ROL y USUARIO (Gestión de perfiles y seguridad).</a:t>
            </a:r>
          </a:p>
          <a:p>
            <a:pPr lvl="1"/>
            <a:r>
              <a:rPr lang="es-CL" dirty="0"/>
              <a:t>LOCAL (Punto de georreferenciación con </a:t>
            </a:r>
            <a:r>
              <a:rPr lang="es-CL" dirty="0" err="1"/>
              <a:t>estado_live</a:t>
            </a:r>
            <a:r>
              <a:rPr lang="es-CL" dirty="0"/>
              <a:t>).</a:t>
            </a:r>
          </a:p>
          <a:p>
            <a:pPr lvl="1"/>
            <a:r>
              <a:rPr lang="es-CL" dirty="0"/>
              <a:t>CATEGORIA_PRODUCTO y PRODUCTO (Catálogo con stock).</a:t>
            </a:r>
          </a:p>
          <a:p>
            <a:pPr lvl="1"/>
            <a:r>
              <a:rPr lang="es-CL" dirty="0"/>
              <a:t>VALORACION (Interacciones y estrellas).</a:t>
            </a:r>
          </a:p>
          <a:p>
            <a:pPr lvl="1"/>
            <a:r>
              <a:rPr lang="es-CL" dirty="0"/>
              <a:t>CUPON_CANJE (Transacción con código único).</a:t>
            </a:r>
          </a:p>
          <a:p>
            <a:pPr lvl="0"/>
            <a:r>
              <a:rPr lang="es-CL" i="1" dirty="0"/>
              <a:t>Características:</a:t>
            </a:r>
            <a:r>
              <a:rPr lang="es-CL" dirty="0"/>
              <a:t> Integridad referencial fuerte mediante FOREIGN KEY, restricciones de no nulidad (NOT NULL) y chequeos de rango (CHECK para precios y coordenadas).</a:t>
            </a:r>
          </a:p>
          <a:p>
            <a:endParaRPr lang="es-CL" dirty="0"/>
          </a:p>
        </p:txBody>
      </p:sp>
      <p:pic>
        <p:nvPicPr>
          <p:cNvPr id="6" name="Picture 5" descr="Vista superior de cubos conectados con líneas negras">
            <a:extLst>
              <a:ext uri="{FF2B5EF4-FFF2-40B4-BE49-F238E27FC236}">
                <a16:creationId xmlns:a16="http://schemas.microsoft.com/office/drawing/2014/main" id="{3E974E7C-1EF3-3BE8-E2FC-6DCFD01B0F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961" r="20039"/>
          <a:stretch>
            <a:fillRect/>
          </a:stretch>
        </p:blipFill>
        <p:spPr>
          <a:xfrm>
            <a:off x="7620000" y="10"/>
            <a:ext cx="457200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35727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3059F6-35F8-88BF-D361-C7F8C451F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>
            <a:normAutofit/>
          </a:bodyPr>
          <a:lstStyle/>
          <a:p>
            <a:r>
              <a:rPr lang="es-CL" dirty="0"/>
              <a:t>Mitigación de Obstáculos (</a:t>
            </a:r>
            <a:r>
              <a:rPr lang="es-CL" dirty="0" err="1"/>
              <a:t>Impediment</a:t>
            </a:r>
            <a:r>
              <a:rPr lang="es-CL" dirty="0"/>
              <a:t> Log)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D5921D-EBDB-E2CE-A70C-5ECC442FA79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>
            <a:normAutofit/>
          </a:bodyPr>
          <a:lstStyle/>
          <a:p>
            <a:pPr lvl="0">
              <a:lnSpc>
                <a:spcPct val="110000"/>
              </a:lnSpc>
            </a:pPr>
            <a:r>
              <a:rPr lang="es-CL" b="1" dirty="0"/>
              <a:t>IMP-01 (Entorno SQLite):</a:t>
            </a:r>
            <a:r>
              <a:rPr lang="es-CL" dirty="0"/>
              <a:t> Adaptador SQLite nativo fallaba en el navegador. </a:t>
            </a:r>
            <a:r>
              <a:rPr lang="es-CL" i="1" dirty="0"/>
              <a:t>Solución:</a:t>
            </a:r>
            <a:r>
              <a:rPr lang="es-CL" dirty="0"/>
              <a:t> Configurar un </a:t>
            </a:r>
            <a:r>
              <a:rPr lang="es-CL" dirty="0" err="1"/>
              <a:t>fallback</a:t>
            </a:r>
            <a:r>
              <a:rPr lang="es-CL" dirty="0"/>
              <a:t> o adaptador automático mediante </a:t>
            </a:r>
            <a:r>
              <a:rPr lang="es-CL" dirty="0" err="1"/>
              <a:t>Ionic</a:t>
            </a:r>
            <a:r>
              <a:rPr lang="es-CL" dirty="0"/>
              <a:t> Storage / </a:t>
            </a:r>
            <a:r>
              <a:rPr lang="es-CL" dirty="0" err="1"/>
              <a:t>IndexedDB</a:t>
            </a:r>
            <a:r>
              <a:rPr lang="es-CL" dirty="0"/>
              <a:t> para simulación ágil.</a:t>
            </a:r>
            <a:endParaRPr lang="es-CL"/>
          </a:p>
          <a:p>
            <a:pPr lvl="0">
              <a:lnSpc>
                <a:spcPct val="110000"/>
              </a:lnSpc>
            </a:pPr>
            <a:r>
              <a:rPr lang="es-CL" b="1" dirty="0"/>
              <a:t>IMP-02 (Coordenadas):</a:t>
            </a:r>
            <a:r>
              <a:rPr lang="es-CL" dirty="0"/>
              <a:t> Entrada errónea de GPS. </a:t>
            </a:r>
            <a:r>
              <a:rPr lang="es-CL" i="1" dirty="0"/>
              <a:t>Solución:</a:t>
            </a:r>
            <a:r>
              <a:rPr lang="es-CL" dirty="0"/>
              <a:t> Validadores de expresiones regulares decimales en formularios reactivos.</a:t>
            </a:r>
            <a:endParaRPr lang="es-CL"/>
          </a:p>
          <a:p>
            <a:pPr lvl="0">
              <a:lnSpc>
                <a:spcPct val="110000"/>
              </a:lnSpc>
            </a:pPr>
            <a:r>
              <a:rPr lang="es-CL" b="1" dirty="0"/>
              <a:t>IMP-03 (Rendimiento del Mapa):</a:t>
            </a:r>
            <a:r>
              <a:rPr lang="es-CL" dirty="0"/>
              <a:t> Retraso al actualizar pines Live Status. </a:t>
            </a:r>
            <a:r>
              <a:rPr lang="es-CL" i="1" dirty="0"/>
              <a:t>Solución:</a:t>
            </a:r>
            <a:r>
              <a:rPr lang="es-CL" dirty="0"/>
              <a:t> Rediseño con grupos de capas </a:t>
            </a:r>
            <a:r>
              <a:rPr lang="es-CL" dirty="0" err="1"/>
              <a:t>Leaflet</a:t>
            </a:r>
            <a:r>
              <a:rPr lang="es-CL" dirty="0"/>
              <a:t> (</a:t>
            </a:r>
            <a:r>
              <a:rPr lang="es-CL" dirty="0" err="1"/>
              <a:t>L.layerGroup</a:t>
            </a:r>
            <a:r>
              <a:rPr lang="es-CL" dirty="0"/>
              <a:t>) para actualización reactiva puntual.</a:t>
            </a:r>
            <a:endParaRPr lang="es-CL"/>
          </a:p>
          <a:p>
            <a:pPr lvl="0">
              <a:lnSpc>
                <a:spcPct val="110000"/>
              </a:lnSpc>
            </a:pPr>
            <a:r>
              <a:rPr lang="es-CL" b="1" dirty="0"/>
              <a:t>IMP-04 (Canje Duplicado):</a:t>
            </a:r>
            <a:r>
              <a:rPr lang="es-CL" dirty="0"/>
              <a:t> </a:t>
            </a:r>
            <a:r>
              <a:rPr lang="es-CL" dirty="0" err="1"/>
              <a:t>Multi-clic</a:t>
            </a:r>
            <a:r>
              <a:rPr lang="es-CL" dirty="0"/>
              <a:t> del botón en red lenta duplicaba canjes. </a:t>
            </a:r>
            <a:r>
              <a:rPr lang="es-CL" i="1" dirty="0"/>
              <a:t>Solución:</a:t>
            </a:r>
            <a:r>
              <a:rPr lang="es-CL" dirty="0"/>
              <a:t> Deshabilitado inmediato en </a:t>
            </a:r>
            <a:r>
              <a:rPr lang="es-CL" dirty="0" err="1"/>
              <a:t>frontend</a:t>
            </a:r>
            <a:r>
              <a:rPr lang="es-CL" dirty="0"/>
              <a:t> y validación robusta de saldo antes de insertar.</a:t>
            </a:r>
            <a:endParaRPr lang="es-CL"/>
          </a:p>
          <a:p>
            <a:pPr lvl="0">
              <a:lnSpc>
                <a:spcPct val="110000"/>
              </a:lnSpc>
            </a:pPr>
            <a:r>
              <a:rPr lang="es-CL" i="1" dirty="0"/>
              <a:t>Lección metodológica:</a:t>
            </a:r>
            <a:r>
              <a:rPr lang="es-CL" dirty="0"/>
              <a:t> El registro temprano permitió resolver bloqueos sin comprometer la entrega (deuda técnica cero).</a:t>
            </a:r>
            <a:endParaRPr lang="es-CL"/>
          </a:p>
          <a:p>
            <a:pPr>
              <a:lnSpc>
                <a:spcPct val="110000"/>
              </a:lnSpc>
            </a:pP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86416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5C68F4-C7CB-4CC8-93DF-F999051B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>
            <a:normAutofit/>
          </a:bodyPr>
          <a:lstStyle/>
          <a:p>
            <a:r>
              <a:rPr lang="es-CL" dirty="0" err="1"/>
              <a:t>FastTrack</a:t>
            </a:r>
            <a:r>
              <a:rPr lang="es-CL" dirty="0"/>
              <a:t>: Un Ecosistema Maduro y Validado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9C7AC54-67A0-8D22-0948-53DFA53173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553" r="-2" b="31078"/>
          <a:stretch>
            <a:fillRect/>
          </a:stretch>
        </p:blipFill>
        <p:spPr>
          <a:xfrm>
            <a:off x="1053548" y="10"/>
            <a:ext cx="11138452" cy="2207738"/>
          </a:xfrm>
          <a:prstGeom prst="rect">
            <a:avLst/>
          </a:prstGeom>
          <a:noFill/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40BF33-DA22-B518-0F6B-1F8C9A3CB45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rmAutofit/>
          </a:bodyPr>
          <a:lstStyle/>
          <a:p>
            <a:pPr lvl="0">
              <a:lnSpc>
                <a:spcPct val="110000"/>
              </a:lnSpc>
            </a:pPr>
            <a:r>
              <a:rPr lang="es-CL" b="1" dirty="0"/>
              <a:t>Logros:</a:t>
            </a:r>
            <a:r>
              <a:rPr lang="es-CL" dirty="0"/>
              <a:t> Desarrollo, validación y cierre al 100% de la planificación técnica en el tiempo previsto, con un producto totalmente funcional.</a:t>
            </a:r>
          </a:p>
          <a:p>
            <a:pPr lvl="0">
              <a:lnSpc>
                <a:spcPct val="110000"/>
              </a:lnSpc>
            </a:pPr>
            <a:r>
              <a:rPr lang="es-CL" b="1" dirty="0"/>
              <a:t>Resultados de Ingeniería:</a:t>
            </a:r>
            <a:r>
              <a:rPr lang="es-CL" dirty="0"/>
              <a:t> Una base de datos relacional robusta (DDL), un motor transaccional de canje de cupones consistente y una interfaz multiplataforma reactiva con mapas en vivo.</a:t>
            </a:r>
          </a:p>
          <a:p>
            <a:pPr lvl="0">
              <a:lnSpc>
                <a:spcPct val="110000"/>
              </a:lnSpc>
            </a:pPr>
            <a:r>
              <a:rPr lang="es-CL" b="1" dirty="0"/>
              <a:t>Valor del Proyecto:</a:t>
            </a:r>
            <a:r>
              <a:rPr lang="es-CL" dirty="0"/>
              <a:t> Demostración de que la innovación no requiere de costosas licencias ni dependencias abusivas para ser efectiva e impactar de forma real en la economía local.</a:t>
            </a:r>
          </a:p>
          <a:p>
            <a:pPr>
              <a:lnSpc>
                <a:spcPct val="110000"/>
              </a:lnSpc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399104226"/>
      </p:ext>
    </p:extLst>
  </p:cSld>
  <p:clrMapOvr>
    <a:masterClrMapping/>
  </p:clrMapOvr>
</p:sld>
</file>

<file path=ppt/theme/theme1.xml><?xml version="1.0" encoding="utf-8"?>
<a:theme xmlns:a="http://schemas.openxmlformats.org/drawingml/2006/main" name="Degradado oscuro">
  <a:themeElements>
    <a:clrScheme name="Degradado oscuro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104</TotalTime>
  <Words>1556</Words>
  <Application>Microsoft Office PowerPoint</Application>
  <PresentationFormat>Panorámica</PresentationFormat>
  <Paragraphs>112</Paragraphs>
  <Slides>15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Aptos</vt:lpstr>
      <vt:lpstr>Arial</vt:lpstr>
      <vt:lpstr>Arial Nova Light</vt:lpstr>
      <vt:lpstr>Degradado oscuro</vt:lpstr>
      <vt:lpstr>Ecosistema Gastronómico Hiperlocal e Información Operativa en Tiempo Real</vt:lpstr>
      <vt:lpstr>El Desafío de la Comida Rápida Hiperlocal</vt:lpstr>
      <vt:lpstr>Problemáticas e Impactos del Ecosistema Actual</vt:lpstr>
      <vt:lpstr>FastTrack: La Solución Georreferenciada en Tiempo Real</vt:lpstr>
      <vt:lpstr>Product Goal: El Norte de FastTrack</vt:lpstr>
      <vt:lpstr>Pilares Estratégicos del Proyecto</vt:lpstr>
      <vt:lpstr>Actores Clave del Proyecto</vt:lpstr>
      <vt:lpstr>Marco de Trabajo Ágil y Planificación de Sprints</vt:lpstr>
      <vt:lpstr>Alineación Estratégica: ¿Por qué?, ¿Quién?, ¿Cómo?, ¿Qué?</vt:lpstr>
      <vt:lpstr>Sprint 1: Cimientos y Gestión Operativa</vt:lpstr>
      <vt:lpstr>Sprint 2: Tiempo Real y Motor de Fidelización</vt:lpstr>
      <vt:lpstr>Arquitectura de Software e Infraestructura Tecnológica</vt:lpstr>
      <vt:lpstr>Modelo de Datos Relacional (DDL)</vt:lpstr>
      <vt:lpstr>Mitigación de Obstáculos (Impediment Log)</vt:lpstr>
      <vt:lpstr>FastTrack: Un Ecosistema Maduro y Validado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FERDYNANDO NICOLAS MELO DIAZ</dc:creator>
  <cp:lastModifiedBy>FERDYNANDO NICOLAS MELO DIAZ</cp:lastModifiedBy>
  <cp:revision>2</cp:revision>
  <dcterms:created xsi:type="dcterms:W3CDTF">2026-10-06T00:33:37Z</dcterms:created>
  <dcterms:modified xsi:type="dcterms:W3CDTF">2026-10-06T02:18:02Z</dcterms:modified>
</cp:coreProperties>
</file>